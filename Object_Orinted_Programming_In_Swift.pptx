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3" r:id="rId9"/>
    <p:sldId id="262" r:id="rId10"/>
    <p:sldId id="264" r:id="rId11"/>
    <p:sldId id="265" r:id="rId12"/>
    <p:sldId id="266" r:id="rId13"/>
    <p:sldId id="268" r:id="rId14"/>
    <p:sldId id="269" r:id="rId15"/>
    <p:sldId id="270" r:id="rId16"/>
    <p:sldId id="271" r:id="rId17"/>
    <p:sldId id="272" r:id="rId18"/>
    <p:sldId id="273" r:id="rId19"/>
    <p:sldId id="267"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3" Type="http://schemas.openxmlformats.org/officeDocument/2006/relationships/tableStyles" Target="tableStyles.xml"/><Relationship Id="rId52" Type="http://schemas.openxmlformats.org/officeDocument/2006/relationships/viewProps" Target="viewProps.xml"/><Relationship Id="rId51" Type="http://schemas.openxmlformats.org/officeDocument/2006/relationships/presProps" Target="presProps.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r>
              <a:rPr lang="en-US"/>
              <a:t>Object - Oriented Programming in Swift</a:t>
            </a:r>
            <a:endParaRPr lang="en-US"/>
          </a:p>
        </p:txBody>
      </p:sp>
      <p:sp>
        <p:nvSpPr>
          <p:cNvPr id="3" name="Subtitle 2"/>
          <p:cNvSpPr>
            <a:spLocks noGrp="1"/>
          </p:cNvSpPr>
          <p:nvPr>
            <p:ph type="subTitle" idx="1"/>
          </p:nvPr>
        </p:nvSpPr>
        <p:spPr/>
        <p:txBody>
          <a:bodyPr/>
          <a:p>
            <a:r>
              <a:rPr lang="en-US"/>
              <a:t>Vraj Suratwala</a:t>
            </a:r>
            <a:endParaRPr lang="en-US"/>
          </a:p>
          <a:p>
            <a:r>
              <a:rPr lang="en-US"/>
              <a:t>Module_1</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t>What is Object Oriented Programming in Swift ?</a:t>
            </a:r>
            <a:endParaRPr lang="en-US"/>
          </a:p>
        </p:txBody>
      </p:sp>
      <p:sp>
        <p:nvSpPr>
          <p:cNvPr id="3" name="Content Placeholder 2"/>
          <p:cNvSpPr>
            <a:spLocks noGrp="1"/>
          </p:cNvSpPr>
          <p:nvPr>
            <p:ph idx="1"/>
          </p:nvPr>
        </p:nvSpPr>
        <p:spPr/>
        <p:txBody>
          <a:bodyPr/>
          <a:p>
            <a:r>
              <a:rPr lang="en-US"/>
              <a:t>it is a way of programming that put code around the objects which are instances or blueprint implementation of classes!</a:t>
            </a:r>
            <a:endParaRPr lang="en-US"/>
          </a:p>
          <a:p>
            <a:r>
              <a:rPr lang="en-US"/>
              <a:t>basically, it is having five pillers</a:t>
            </a:r>
            <a:endParaRPr lang="en-US"/>
          </a:p>
          <a:p>
            <a:pPr lvl="1"/>
            <a:r>
              <a:rPr lang="en-US"/>
              <a:t>1. Object and Classes</a:t>
            </a:r>
            <a:endParaRPr lang="en-US"/>
          </a:p>
          <a:p>
            <a:pPr lvl="1"/>
            <a:r>
              <a:rPr lang="en-US"/>
              <a:t>2. Inheritance</a:t>
            </a:r>
            <a:endParaRPr lang="en-US"/>
          </a:p>
          <a:p>
            <a:pPr lvl="1"/>
            <a:r>
              <a:rPr lang="en-US"/>
              <a:t>3. Encapsulation</a:t>
            </a:r>
            <a:endParaRPr lang="en-US"/>
          </a:p>
          <a:p>
            <a:pPr lvl="1"/>
            <a:r>
              <a:rPr lang="en-US"/>
              <a:t>4. Abstraction</a:t>
            </a:r>
            <a:endParaRPr lang="en-US"/>
          </a:p>
          <a:p>
            <a:pPr lvl="1"/>
            <a:r>
              <a:rPr lang="en-US"/>
              <a:t>5. Polymorphism</a:t>
            </a:r>
            <a:endParaRPr lang="en-US"/>
          </a:p>
          <a:p>
            <a:pPr lvl="1"/>
            <a:endParaRPr lang="en-US"/>
          </a:p>
          <a:p>
            <a:pPr lvl="1"/>
            <a:r>
              <a:rPr lang="en-US"/>
              <a:t>so let’s Explore each one !!</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Classes and Objects in Swift</a:t>
            </a:r>
            <a:endParaRPr lang="en-US"/>
          </a:p>
        </p:txBody>
      </p:sp>
      <p:sp>
        <p:nvSpPr>
          <p:cNvPr id="3" name="Content Placeholder 2"/>
          <p:cNvSpPr>
            <a:spLocks noGrp="1"/>
          </p:cNvSpPr>
          <p:nvPr>
            <p:ph idx="1"/>
          </p:nvPr>
        </p:nvSpPr>
        <p:spPr/>
        <p:txBody>
          <a:bodyPr/>
          <a:p>
            <a:r>
              <a:rPr lang="en-US" altLang="en-US"/>
              <a:t>A class is a blueprint or template for creating objects. A class defines the properties and methods that are common to all objects of that type.</a:t>
            </a:r>
            <a:endParaRPr lang="en-US" altLang="en-US"/>
          </a:p>
          <a:p>
            <a:r>
              <a:rPr lang="en-US" altLang="en-US"/>
              <a:t>Properties of a Class : Properties refers to the variables or constant in a class which can be either normal properties or computed properties.</a:t>
            </a:r>
            <a:endParaRPr lang="en-US" altLang="en-US"/>
          </a:p>
          <a:p>
            <a:r>
              <a:rPr lang="en-US" altLang="en-US"/>
              <a:t>Methods of a Class : Refers to Fucntions in class.</a:t>
            </a:r>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Declaration and Syntax of Class</a:t>
            </a:r>
            <a:endParaRPr lang="en-US"/>
          </a:p>
        </p:txBody>
      </p:sp>
      <p:sp>
        <p:nvSpPr>
          <p:cNvPr id="3" name="Content Placeholder 2"/>
          <p:cNvSpPr>
            <a:spLocks noGrp="1"/>
          </p:cNvSpPr>
          <p:nvPr>
            <p:ph idx="1"/>
          </p:nvPr>
        </p:nvSpPr>
        <p:spPr/>
        <p:txBody>
          <a:bodyPr>
            <a:normAutofit fontScale="90000" lnSpcReduction="20000"/>
          </a:bodyPr>
          <a:p>
            <a:r>
              <a:rPr lang="en-US"/>
              <a:t>Syntax : </a:t>
            </a:r>
            <a:endParaRPr lang="en-US"/>
          </a:p>
          <a:p>
            <a:pPr lvl="1"/>
            <a:r>
              <a:rPr lang="en-US"/>
              <a:t>Class Class_Name {</a:t>
            </a:r>
            <a:endParaRPr lang="en-US"/>
          </a:p>
          <a:p>
            <a:pPr lvl="2"/>
            <a:r>
              <a:rPr lang="en-US"/>
              <a:t>// Class Definition goes here</a:t>
            </a:r>
            <a:endParaRPr lang="en-US"/>
          </a:p>
          <a:p>
            <a:pPr lvl="1"/>
            <a:r>
              <a:rPr lang="en-US"/>
              <a:t>}</a:t>
            </a:r>
            <a:endParaRPr lang="en-US"/>
          </a:p>
          <a:p>
            <a:pPr lvl="0"/>
            <a:r>
              <a:rPr lang="en-US"/>
              <a:t>Example : </a:t>
            </a:r>
            <a:endParaRPr lang="en-US"/>
          </a:p>
          <a:p>
            <a:pPr lvl="1"/>
            <a:r>
              <a:rPr lang="en-US"/>
              <a:t>Class Animal {</a:t>
            </a:r>
            <a:endParaRPr lang="en-US"/>
          </a:p>
          <a:p>
            <a:pPr lvl="2"/>
            <a:r>
              <a:rPr lang="en-US"/>
              <a:t>var Name : String  = “”</a:t>
            </a:r>
            <a:endParaRPr lang="en-US"/>
          </a:p>
          <a:p>
            <a:pPr lvl="2"/>
            <a:r>
              <a:rPr lang="en-US"/>
              <a:t>var Age : Int = 0</a:t>
            </a:r>
            <a:endParaRPr lang="en-US"/>
          </a:p>
          <a:p>
            <a:pPr lvl="2"/>
            <a:endParaRPr lang="en-US"/>
          </a:p>
          <a:p>
            <a:pPr lvl="2"/>
            <a:r>
              <a:rPr lang="en-US"/>
              <a:t>func display(){</a:t>
            </a:r>
            <a:endParaRPr lang="en-US"/>
          </a:p>
          <a:p>
            <a:pPr lvl="3"/>
            <a:r>
              <a:rPr lang="en-US"/>
              <a:t>print(Name)</a:t>
            </a:r>
            <a:endParaRPr lang="en-US"/>
          </a:p>
          <a:p>
            <a:pPr lvl="3"/>
            <a:r>
              <a:rPr lang="en-US"/>
              <a:t>print(Age)</a:t>
            </a:r>
            <a:endParaRPr lang="en-US"/>
          </a:p>
          <a:p>
            <a:pPr lvl="2"/>
            <a:r>
              <a:rPr lang="en-US"/>
              <a:t>}	</a:t>
            </a:r>
            <a:endParaRPr lang="en-US"/>
          </a:p>
          <a:p>
            <a:pPr lvl="1"/>
            <a:r>
              <a:rPr lang="en-US"/>
              <a:t>}</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Practiced Example</a:t>
            </a:r>
            <a:endParaRPr lang="en-US"/>
          </a:p>
        </p:txBody>
      </p:sp>
      <p:pic>
        <p:nvPicPr>
          <p:cNvPr id="4" name="Picture 3" descr="Screenshot 2026-02-12 at 12.50.28 AM"/>
          <p:cNvPicPr>
            <a:picLocks noChangeAspect="1"/>
          </p:cNvPicPr>
          <p:nvPr/>
        </p:nvPicPr>
        <p:blipFill>
          <a:blip r:embed="rId1"/>
          <a:stretch>
            <a:fillRect/>
          </a:stretch>
        </p:blipFill>
        <p:spPr>
          <a:xfrm>
            <a:off x="905510" y="1457325"/>
            <a:ext cx="4046855" cy="522668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Components of Swift Classes</a:t>
            </a:r>
            <a:endParaRPr lang="en-US"/>
          </a:p>
        </p:txBody>
      </p:sp>
      <p:sp>
        <p:nvSpPr>
          <p:cNvPr id="3" name="Content Placeholder 2"/>
          <p:cNvSpPr>
            <a:spLocks noGrp="1"/>
          </p:cNvSpPr>
          <p:nvPr>
            <p:ph idx="1"/>
          </p:nvPr>
        </p:nvSpPr>
        <p:spPr/>
        <p:txBody>
          <a:bodyPr>
            <a:normAutofit fontScale="90000" lnSpcReduction="10000"/>
          </a:bodyPr>
          <a:p>
            <a:r>
              <a:rPr lang="en-US"/>
              <a:t>1. Properties : variables of constants to store values for an object in class.</a:t>
            </a:r>
            <a:endParaRPr lang="en-US"/>
          </a:p>
          <a:p>
            <a:r>
              <a:rPr lang="en-US"/>
              <a:t>2. Methods : refers to functions which performs specific task.</a:t>
            </a:r>
            <a:endParaRPr lang="en-US"/>
          </a:p>
          <a:p>
            <a:r>
              <a:rPr lang="en-US"/>
              <a:t>3.Intializaers : Special Methods (Constructors) which called when object is getting created.</a:t>
            </a:r>
            <a:endParaRPr lang="en-US"/>
          </a:p>
          <a:p>
            <a:r>
              <a:rPr lang="en-US"/>
              <a:t>4.Subscripts : </a:t>
            </a:r>
            <a:r>
              <a:rPr lang="en-US" altLang="en-US"/>
              <a:t>special methods that allow access to the values of the object using subscript syntax, such as object[index].</a:t>
            </a:r>
            <a:endParaRPr lang="en-US" altLang="en-US"/>
          </a:p>
          <a:p>
            <a:r>
              <a:rPr lang="en-US" altLang="en-US"/>
              <a:t>5.Extensions : Block of code which extending the class functionlity without affecting original class code.</a:t>
            </a:r>
            <a:endParaRPr lang="en-US" altLang="en-US"/>
          </a:p>
          <a:p>
            <a:r>
              <a:rPr lang="en-US" altLang="en-US"/>
              <a:t>6. Protocols : Interfaces that declaring common methods and properties which will be implemented by class or extending interfaces.</a:t>
            </a: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Key Points about Classes</a:t>
            </a:r>
            <a:endParaRPr lang="en-US"/>
          </a:p>
        </p:txBody>
      </p:sp>
      <p:sp>
        <p:nvSpPr>
          <p:cNvPr id="3" name="Content Placeholder 2"/>
          <p:cNvSpPr>
            <a:spLocks noGrp="1"/>
          </p:cNvSpPr>
          <p:nvPr>
            <p:ph idx="1"/>
          </p:nvPr>
        </p:nvSpPr>
        <p:spPr/>
        <p:txBody>
          <a:bodyPr/>
          <a:p>
            <a:r>
              <a:rPr lang="en-US"/>
              <a:t>Classes are the pointers towards the “Objects”.</a:t>
            </a:r>
            <a:endParaRPr lang="en-US"/>
          </a:p>
          <a:p>
            <a:r>
              <a:rPr lang="en-US"/>
              <a:t>Classes allow us to declare properties, methods, subscript.</a:t>
            </a:r>
            <a:endParaRPr lang="en-US"/>
          </a:p>
          <a:p>
            <a:r>
              <a:rPr lang="en-US"/>
              <a:t>Classes allow to inherit the protocols.</a:t>
            </a:r>
            <a:endParaRPr lang="en-US"/>
          </a:p>
          <a:p>
            <a:r>
              <a:rPr lang="en-US"/>
              <a:t>Classes must have intializers and DE Intializers.</a:t>
            </a:r>
            <a:endParaRPr lang="en-US"/>
          </a:p>
          <a:p>
            <a:r>
              <a:rPr lang="en-US"/>
              <a:t>Classes can inherit from another class.</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What is an Object ?</a:t>
            </a:r>
            <a:endParaRPr lang="en-US"/>
          </a:p>
        </p:txBody>
      </p:sp>
      <p:sp>
        <p:nvSpPr>
          <p:cNvPr id="3" name="Content Placeholder 2"/>
          <p:cNvSpPr>
            <a:spLocks noGrp="1"/>
          </p:cNvSpPr>
          <p:nvPr>
            <p:ph idx="1"/>
          </p:nvPr>
        </p:nvSpPr>
        <p:spPr/>
        <p:txBody>
          <a:bodyPr/>
          <a:p>
            <a:r>
              <a:rPr lang="en-US"/>
              <a:t>Object is an instance of a class which can use the all public methods and properties of it’s class.</a:t>
            </a:r>
            <a:endParaRPr lang="en-US"/>
          </a:p>
          <a:p>
            <a:r>
              <a:rPr lang="en-US"/>
              <a:t>Declaration of class :</a:t>
            </a:r>
            <a:endParaRPr lang="en-US"/>
          </a:p>
          <a:p>
            <a:pPr lvl="1"/>
            <a:r>
              <a:rPr lang="en-US"/>
              <a:t>Syntax : var/let object_name = ClassName(Paramater_List)</a:t>
            </a:r>
            <a:endParaRPr lang="en-US"/>
          </a:p>
          <a:p>
            <a:pPr lvl="1"/>
            <a:endParaRPr lang="en-US"/>
          </a:p>
          <a:p>
            <a:pPr lvl="1"/>
            <a:r>
              <a:rPr lang="en-US"/>
              <a:t>Example : var Object_Animal = Animal() </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Ways to Create an Object </a:t>
            </a:r>
            <a:endParaRPr lang="en-US"/>
          </a:p>
        </p:txBody>
      </p:sp>
      <p:sp>
        <p:nvSpPr>
          <p:cNvPr id="3" name="Content Placeholder 2"/>
          <p:cNvSpPr>
            <a:spLocks noGrp="1"/>
          </p:cNvSpPr>
          <p:nvPr>
            <p:ph idx="1"/>
          </p:nvPr>
        </p:nvSpPr>
        <p:spPr>
          <a:xfrm>
            <a:off x="838200" y="1439545"/>
            <a:ext cx="10515600" cy="4737735"/>
          </a:xfrm>
        </p:spPr>
        <p:txBody>
          <a:bodyPr>
            <a:normAutofit lnSpcReduction="10000"/>
          </a:bodyPr>
          <a:p>
            <a:pPr lvl="0"/>
            <a:r>
              <a:rPr lang="en-US" altLang="en-US"/>
              <a:t>using class name and parentheses :</a:t>
            </a:r>
            <a:endParaRPr lang="en-US" altLang="en-US"/>
          </a:p>
          <a:p>
            <a:pPr lvl="1"/>
            <a:r>
              <a:rPr lang="en-US" altLang="en-US"/>
              <a:t>var/let object_name = classname()</a:t>
            </a:r>
            <a:endParaRPr lang="en-US" altLang="en-US"/>
          </a:p>
          <a:p>
            <a:pPr lvl="0"/>
            <a:r>
              <a:rPr lang="en-US" altLang="en-US"/>
              <a:t>using class name with arguments :</a:t>
            </a:r>
            <a:endParaRPr lang="en-US" altLang="en-US"/>
          </a:p>
          <a:p>
            <a:pPr lvl="1"/>
            <a:r>
              <a:rPr lang="en-US" altLang="en-US"/>
              <a:t>var/let object_name = classname(arguments)</a:t>
            </a:r>
            <a:endParaRPr lang="en-US" altLang="en-US"/>
          </a:p>
          <a:p>
            <a:pPr lvl="0"/>
            <a:r>
              <a:rPr lang="en-US" altLang="en-US"/>
              <a:t>using new keyword</a:t>
            </a:r>
            <a:endParaRPr lang="en-US" altLang="en-US"/>
          </a:p>
          <a:p>
            <a:pPr lvl="1"/>
            <a:r>
              <a:rPr lang="en-US" altLang="en-US"/>
              <a:t>var/let classname = new classname()</a:t>
            </a:r>
            <a:endParaRPr lang="en-US" altLang="en-US"/>
          </a:p>
          <a:p>
            <a:pPr lvl="0"/>
            <a:r>
              <a:rPr lang="en-US" altLang="en-US"/>
              <a:t>using a factory method: a static or class method that returns an object of the class.</a:t>
            </a:r>
            <a:endParaRPr lang="en-US" altLang="en-US"/>
          </a:p>
          <a:p>
            <a:pPr lvl="1"/>
            <a:r>
              <a:rPr lang="en-US" altLang="en-US"/>
              <a:t>For example, var objectName = ClassName.create()</a:t>
            </a:r>
            <a:endParaRPr lang="en-US" altLang="en-US"/>
          </a:p>
          <a:p>
            <a:pPr lvl="0"/>
            <a:r>
              <a:rPr lang="en-US" altLang="en-US"/>
              <a:t>copy constructor</a:t>
            </a:r>
            <a:endParaRPr lang="en-US" altLang="en-US"/>
          </a:p>
          <a:p>
            <a:pPr lvl="1"/>
            <a:r>
              <a:rPr lang="en-US" altLang="en-US"/>
              <a:t>var object_name  = ClassName(another_object)</a:t>
            </a:r>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Example : Intializers in Class</a:t>
            </a:r>
            <a:endParaRPr lang="en-US"/>
          </a:p>
        </p:txBody>
      </p:sp>
      <p:pic>
        <p:nvPicPr>
          <p:cNvPr id="5" name="Picture 4" descr="Screenshot 2026-02-12 at 1.12.50 AM"/>
          <p:cNvPicPr>
            <a:picLocks noChangeAspect="1"/>
          </p:cNvPicPr>
          <p:nvPr/>
        </p:nvPicPr>
        <p:blipFill>
          <a:blip r:embed="rId1"/>
          <a:stretch>
            <a:fillRect/>
          </a:stretch>
        </p:blipFill>
        <p:spPr>
          <a:xfrm>
            <a:off x="838200" y="1405890"/>
            <a:ext cx="6978015" cy="52755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t>Question Arise : What is Self which we are using in init() method !</a:t>
            </a:r>
            <a:endParaRPr lang="en-US"/>
          </a:p>
        </p:txBody>
      </p:sp>
      <p:sp>
        <p:nvSpPr>
          <p:cNvPr id="3" name="Content Placeholder 2"/>
          <p:cNvSpPr>
            <a:spLocks noGrp="1"/>
          </p:cNvSpPr>
          <p:nvPr>
            <p:ph idx="1"/>
          </p:nvPr>
        </p:nvSpPr>
        <p:spPr/>
        <p:txBody>
          <a:bodyPr>
            <a:normAutofit lnSpcReduction="10000"/>
          </a:bodyPr>
          <a:p>
            <a:r>
              <a:rPr lang="en-US" b="1"/>
              <a:t>‘self’</a:t>
            </a:r>
            <a:r>
              <a:rPr lang="en-US"/>
              <a:t> Keyword in swift : - </a:t>
            </a:r>
            <a:endParaRPr lang="en-US"/>
          </a:p>
          <a:p>
            <a:pPr lvl="1"/>
            <a:r>
              <a:rPr lang="en-US" sz="2400"/>
              <a:t>Self refer to current instance or instance right here.</a:t>
            </a:r>
            <a:endParaRPr lang="en-US" sz="2400"/>
          </a:p>
          <a:p>
            <a:pPr lvl="1"/>
            <a:r>
              <a:rPr lang="en-US"/>
              <a:t>usage of self :</a:t>
            </a:r>
            <a:endParaRPr lang="en-US"/>
          </a:p>
          <a:p>
            <a:pPr lvl="2"/>
            <a:r>
              <a:rPr lang="en-US" sz="2000"/>
              <a:t>Accessing own properties or methods</a:t>
            </a:r>
            <a:endParaRPr lang="en-US" sz="2000"/>
          </a:p>
          <a:p>
            <a:pPr lvl="2"/>
            <a:r>
              <a:rPr lang="en-US" sz="2000"/>
              <a:t>calling own methods</a:t>
            </a:r>
            <a:endParaRPr lang="en-US" sz="2000"/>
          </a:p>
          <a:p>
            <a:pPr lvl="2"/>
            <a:r>
              <a:rPr lang="en-US" sz="2000"/>
              <a:t>inside closures</a:t>
            </a:r>
            <a:endParaRPr lang="en-US" sz="2000"/>
          </a:p>
          <a:p>
            <a:pPr lvl="2"/>
            <a:r>
              <a:rPr lang="en-US" sz="2000"/>
              <a:t>in structures</a:t>
            </a:r>
            <a:endParaRPr lang="en-US" sz="2000"/>
          </a:p>
          <a:p>
            <a:pPr lvl="2"/>
            <a:r>
              <a:rPr lang="en-US" sz="2000"/>
              <a:t>refer current instance</a:t>
            </a:r>
            <a:r>
              <a:rPr lang="en-US"/>
              <a:t> </a:t>
            </a:r>
            <a:endParaRPr lang="en-US"/>
          </a:p>
          <a:p>
            <a:pPr lvl="2"/>
            <a:endParaRPr lang="en-US"/>
          </a:p>
          <a:p>
            <a:pPr lvl="1"/>
            <a:r>
              <a:rPr lang="en-US"/>
              <a:t>We understood the self keyword, right ! so let’s explore one more keyword ... ready ? - but we will se that after one concept which is Inheritance...</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Inheritance in Swift</a:t>
            </a:r>
            <a:endParaRPr lang="en-US"/>
          </a:p>
        </p:txBody>
      </p:sp>
      <p:sp>
        <p:nvSpPr>
          <p:cNvPr id="3" name="Content Placeholder 2"/>
          <p:cNvSpPr>
            <a:spLocks noGrp="1"/>
          </p:cNvSpPr>
          <p:nvPr>
            <p:ph idx="1"/>
          </p:nvPr>
        </p:nvSpPr>
        <p:spPr/>
        <p:txBody>
          <a:bodyPr/>
          <a:p>
            <a:r>
              <a:rPr lang="en-US"/>
              <a:t>Definition : Inheritance refers to acquire the properties, methods and intializaers of one class to anthor class.</a:t>
            </a:r>
            <a:endParaRPr lang="en-US"/>
          </a:p>
          <a:p>
            <a:r>
              <a:rPr lang="en-US"/>
              <a:t>the class from which another is acquiring these things that is knows as Super class and the class who is aquiring that is known as Child or Sub Class.</a:t>
            </a:r>
            <a:endParaRPr lang="en-US"/>
          </a:p>
          <a:p>
            <a:r>
              <a:rPr lang="en-US"/>
              <a:t>this acquiring process is known as Inheritance.</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Swift Base Class</a:t>
            </a:r>
            <a:endParaRPr lang="en-US"/>
          </a:p>
        </p:txBody>
      </p:sp>
      <p:sp>
        <p:nvSpPr>
          <p:cNvPr id="3" name="Content Placeholder 2"/>
          <p:cNvSpPr>
            <a:spLocks noGrp="1"/>
          </p:cNvSpPr>
          <p:nvPr>
            <p:ph idx="1"/>
          </p:nvPr>
        </p:nvSpPr>
        <p:spPr/>
        <p:txBody>
          <a:bodyPr/>
          <a:p>
            <a:r>
              <a:rPr lang="en-US"/>
              <a:t>the class which the class that does not inherit properties, methods or function from any other class is called as Base Class.</a:t>
            </a:r>
            <a:endParaRPr lang="en-US"/>
          </a:p>
          <a:p>
            <a:r>
              <a:rPr lang="en-US"/>
              <a:t>it is also known as Super and Master Class.</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Swift Sub Class</a:t>
            </a:r>
            <a:endParaRPr lang="en-US"/>
          </a:p>
        </p:txBody>
      </p:sp>
      <p:sp>
        <p:nvSpPr>
          <p:cNvPr id="3" name="Content Placeholder 2"/>
          <p:cNvSpPr>
            <a:spLocks noGrp="1"/>
          </p:cNvSpPr>
          <p:nvPr>
            <p:ph idx="1"/>
          </p:nvPr>
        </p:nvSpPr>
        <p:spPr/>
        <p:txBody>
          <a:bodyPr/>
          <a:p>
            <a:r>
              <a:rPr lang="en-US"/>
              <a:t>in swift, a class which inherting properties or methods from other existing class is called as a sub class.</a:t>
            </a:r>
            <a:endParaRPr lang="en-US"/>
          </a:p>
          <a:p>
            <a:r>
              <a:rPr lang="en-US"/>
              <a:t>we can also achive an overrding. (we can override proerties, methods and init’s as well!)</a:t>
            </a:r>
            <a:endParaRPr lang="en-US"/>
          </a:p>
          <a:p>
            <a:r>
              <a:rPr lang="en-US"/>
              <a:t>Syntax :</a:t>
            </a:r>
            <a:endParaRPr lang="en-US"/>
          </a:p>
          <a:p>
            <a:pPr lvl="1"/>
            <a:r>
              <a:rPr lang="en-US"/>
              <a:t>class subclass_name : super_class_name {</a:t>
            </a:r>
            <a:endParaRPr lang="en-US"/>
          </a:p>
          <a:p>
            <a:pPr lvl="2"/>
            <a:r>
              <a:rPr lang="en-US"/>
              <a:t>// subclass implementation goes here.</a:t>
            </a:r>
            <a:endParaRPr lang="en-US"/>
          </a:p>
          <a:p>
            <a:pPr lvl="1"/>
            <a:r>
              <a:rPr lang="en-US"/>
              <a:t>}</a:t>
            </a:r>
            <a:endParaRPr lang="en-US"/>
          </a:p>
          <a:p>
            <a:pPr lvl="1"/>
            <a:endParaRPr lang="en-US"/>
          </a:p>
          <a:p>
            <a:pPr lvl="1"/>
            <a:r>
              <a:rPr lang="en-US"/>
              <a:t>Note :  using  ‘:’ , we can inherit the super class.</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Swift Overrding</a:t>
            </a:r>
            <a:endParaRPr lang="en-US"/>
          </a:p>
        </p:txBody>
      </p:sp>
      <p:sp>
        <p:nvSpPr>
          <p:cNvPr id="3" name="Content Placeholder 2"/>
          <p:cNvSpPr>
            <a:spLocks noGrp="1"/>
          </p:cNvSpPr>
          <p:nvPr>
            <p:ph idx="1"/>
          </p:nvPr>
        </p:nvSpPr>
        <p:spPr/>
        <p:txBody>
          <a:bodyPr/>
          <a:p>
            <a:r>
              <a:rPr lang="en-US"/>
              <a:t>Overrding is the process in which subclass is fully responsible to change or reimplementation the instance method , instance property and type property which is define in parent class or superclass.</a:t>
            </a:r>
            <a:endParaRPr lang="en-US"/>
          </a:p>
          <a:p>
            <a:r>
              <a:rPr lang="en-US"/>
              <a:t>a subclass provides fully custom implementation for any type including instance method or property of super class based on requirements.</a:t>
            </a:r>
            <a:endParaRPr lang="en-US"/>
          </a:p>
          <a:p>
            <a:r>
              <a:rPr lang="en-US"/>
              <a:t>Keyword : override - which will tells the compiler to check the overriding method or property definition matches with the base class or not.</a:t>
            </a:r>
            <a:endParaRPr lang="en-US"/>
          </a:p>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Syntax of Overriding</a:t>
            </a:r>
            <a:endParaRPr lang="en-US"/>
          </a:p>
        </p:txBody>
      </p:sp>
      <p:sp>
        <p:nvSpPr>
          <p:cNvPr id="3" name="Content Placeholder 2"/>
          <p:cNvSpPr>
            <a:spLocks noGrp="1"/>
          </p:cNvSpPr>
          <p:nvPr>
            <p:ph idx="1"/>
          </p:nvPr>
        </p:nvSpPr>
        <p:spPr>
          <a:xfrm>
            <a:off x="838200" y="1461770"/>
            <a:ext cx="10515600" cy="5079365"/>
          </a:xfrm>
        </p:spPr>
        <p:txBody>
          <a:bodyPr>
            <a:normAutofit fontScale="80000"/>
          </a:bodyPr>
          <a:p>
            <a:r>
              <a:rPr lang="en-US"/>
              <a:t>class Sample_1 {</a:t>
            </a:r>
            <a:endParaRPr lang="en-US"/>
          </a:p>
          <a:p>
            <a:pPr lvl="1"/>
            <a:r>
              <a:rPr lang="en-US"/>
              <a:t>// Implementation goes here</a:t>
            </a:r>
            <a:endParaRPr lang="en-US"/>
          </a:p>
          <a:p>
            <a:pPr lvl="1"/>
            <a:endParaRPr lang="en-US"/>
          </a:p>
          <a:p>
            <a:pPr lvl="1"/>
            <a:r>
              <a:rPr lang="en-US"/>
              <a:t>func display()</a:t>
            </a:r>
            <a:endParaRPr lang="en-US"/>
          </a:p>
          <a:p>
            <a:pPr lvl="1"/>
            <a:r>
              <a:rPr lang="en-US"/>
              <a:t>{</a:t>
            </a:r>
            <a:endParaRPr lang="en-US"/>
          </a:p>
          <a:p>
            <a:pPr lvl="2"/>
            <a:r>
              <a:rPr lang="en-US" sz="2000"/>
              <a:t>// Code goes here</a:t>
            </a:r>
            <a:endParaRPr lang="en-US"/>
          </a:p>
          <a:p>
            <a:pPr lvl="1"/>
            <a:r>
              <a:rPr lang="en-US"/>
              <a:t>}</a:t>
            </a:r>
            <a:endParaRPr lang="en-US"/>
          </a:p>
          <a:p>
            <a:r>
              <a:rPr lang="en-US"/>
              <a:t>}</a:t>
            </a:r>
            <a:endParaRPr lang="en-US"/>
          </a:p>
          <a:p>
            <a:endParaRPr lang="en-US"/>
          </a:p>
          <a:p>
            <a:r>
              <a:rPr lang="en-US"/>
              <a:t>class Sample_2  : Sample_1{</a:t>
            </a:r>
            <a:endParaRPr lang="en-US"/>
          </a:p>
          <a:p>
            <a:pPr lvl="1"/>
            <a:r>
              <a:rPr lang="en-US"/>
              <a:t>override func display(){</a:t>
            </a:r>
            <a:endParaRPr lang="en-US"/>
          </a:p>
          <a:p>
            <a:pPr lvl="2"/>
            <a:r>
              <a:rPr lang="en-US"/>
              <a:t>// New code can go here</a:t>
            </a:r>
            <a:endParaRPr lang="en-US"/>
          </a:p>
          <a:p>
            <a:pPr lvl="1"/>
            <a:r>
              <a:rPr lang="en-US"/>
              <a:t>}</a:t>
            </a:r>
            <a:endParaRPr lang="en-US"/>
          </a:p>
          <a:p>
            <a:r>
              <a:rPr lang="en-US"/>
              <a:t>}</a:t>
            </a:r>
            <a:endParaRPr lang="en-US"/>
          </a:p>
          <a:p>
            <a:endParaRPr lang="en-US"/>
          </a:p>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Example</a:t>
            </a:r>
            <a:endParaRPr lang="en-US"/>
          </a:p>
        </p:txBody>
      </p:sp>
      <p:sp>
        <p:nvSpPr>
          <p:cNvPr id="3" name="Content Placeholder 2"/>
          <p:cNvSpPr>
            <a:spLocks noGrp="1"/>
          </p:cNvSpPr>
          <p:nvPr>
            <p:ph idx="1"/>
          </p:nvPr>
        </p:nvSpPr>
        <p:spPr>
          <a:xfrm>
            <a:off x="838200" y="1383665"/>
            <a:ext cx="10515600" cy="5248275"/>
          </a:xfrm>
        </p:spPr>
        <p:txBody>
          <a:bodyPr>
            <a:normAutofit fontScale="85000"/>
          </a:bodyPr>
          <a:p>
            <a:r>
              <a:rPr lang="en-US" altLang="en-US"/>
              <a:t>class Base{</a:t>
            </a:r>
            <a:endParaRPr lang="en-US" altLang="en-US"/>
          </a:p>
          <a:p>
            <a:r>
              <a:rPr lang="en-US" altLang="en-US"/>
              <a:t>    var Name : String  = ""</a:t>
            </a:r>
            <a:endParaRPr lang="en-US" altLang="en-US"/>
          </a:p>
          <a:p>
            <a:r>
              <a:rPr lang="en-US" altLang="en-US"/>
              <a:t>    </a:t>
            </a:r>
            <a:endParaRPr lang="en-US" altLang="en-US"/>
          </a:p>
          <a:p>
            <a:r>
              <a:rPr lang="en-US" altLang="en-US"/>
              <a:t>    init(Name : String){</a:t>
            </a:r>
            <a:endParaRPr lang="en-US" altLang="en-US"/>
          </a:p>
          <a:p>
            <a:r>
              <a:rPr lang="en-US" altLang="en-US"/>
              <a:t>        self.Name = Name</a:t>
            </a:r>
            <a:endParaRPr lang="en-US" altLang="en-US"/>
          </a:p>
          <a:p>
            <a:r>
              <a:rPr lang="en-US" altLang="en-US"/>
              <a:t>    }   </a:t>
            </a:r>
            <a:endParaRPr lang="en-US" altLang="en-US"/>
          </a:p>
          <a:p>
            <a:r>
              <a:rPr lang="en-US" altLang="en-US"/>
              <a:t>    func display()</a:t>
            </a:r>
            <a:endParaRPr lang="en-US" altLang="en-US"/>
          </a:p>
          <a:p>
            <a:r>
              <a:rPr lang="en-US" altLang="en-US"/>
              <a:t>    {</a:t>
            </a:r>
            <a:endParaRPr lang="en-US" altLang="en-US"/>
          </a:p>
          <a:p>
            <a:r>
              <a:rPr lang="en-US" altLang="en-US"/>
              <a:t>        print(Name)</a:t>
            </a:r>
            <a:endParaRPr lang="en-US" altLang="en-US"/>
          </a:p>
          <a:p>
            <a:r>
              <a:rPr lang="en-US" altLang="en-US"/>
              <a:t>    }</a:t>
            </a:r>
            <a:endParaRPr lang="en-US" altLang="en-US"/>
          </a:p>
          <a:p>
            <a:r>
              <a:rPr lang="en-US" altLang="en-US"/>
              <a:t>}</a:t>
            </a:r>
            <a:endParaRPr lang="en-US" altLang="en-US"/>
          </a:p>
          <a:p>
            <a:endParaRPr lang="en-US" altLang="en-US"/>
          </a:p>
        </p:txBody>
      </p:sp>
      <p:sp>
        <p:nvSpPr>
          <p:cNvPr id="4" name="Text Box 3"/>
          <p:cNvSpPr txBox="1"/>
          <p:nvPr/>
        </p:nvSpPr>
        <p:spPr>
          <a:xfrm>
            <a:off x="5819775" y="1473200"/>
            <a:ext cx="6096000" cy="2584450"/>
          </a:xfrm>
          <a:prstGeom prst="rect">
            <a:avLst/>
          </a:prstGeom>
          <a:noFill/>
        </p:spPr>
        <p:txBody>
          <a:bodyPr wrap="square" rtlCol="0" anchor="t">
            <a:spAutoFit/>
          </a:bodyPr>
          <a:p>
            <a:r>
              <a:rPr lang="en-US" altLang="en-US">
                <a:sym typeface="+mn-ea"/>
              </a:rPr>
              <a:t>class Child : Base {</a:t>
            </a:r>
            <a:endParaRPr lang="en-US" altLang="en-US"/>
          </a:p>
          <a:p>
            <a:r>
              <a:rPr lang="en-US" altLang="en-US">
                <a:sym typeface="+mn-ea"/>
              </a:rPr>
              <a:t>    override func display() {</a:t>
            </a:r>
            <a:endParaRPr lang="en-US" altLang="en-US"/>
          </a:p>
          <a:p>
            <a:r>
              <a:rPr lang="en-US" altLang="en-US">
                <a:sym typeface="+mn-ea"/>
              </a:rPr>
              <a:t>        print("an Extra Display Definition can go here")</a:t>
            </a:r>
            <a:endParaRPr lang="en-US" altLang="en-US"/>
          </a:p>
          <a:p>
            <a:r>
              <a:rPr lang="en-US" altLang="en-US">
                <a:sym typeface="+mn-ea"/>
              </a:rPr>
              <a:t>        super.display()</a:t>
            </a:r>
            <a:endParaRPr lang="en-US" altLang="en-US"/>
          </a:p>
          <a:p>
            <a:r>
              <a:rPr lang="en-US" altLang="en-US">
                <a:sym typeface="+mn-ea"/>
              </a:rPr>
              <a:t>    }</a:t>
            </a:r>
            <a:endParaRPr lang="en-US" altLang="en-US"/>
          </a:p>
          <a:p>
            <a:r>
              <a:rPr lang="en-US" altLang="en-US">
                <a:sym typeface="+mn-ea"/>
              </a:rPr>
              <a:t>}</a:t>
            </a:r>
            <a:endParaRPr lang="en-US" altLang="en-US"/>
          </a:p>
          <a:p>
            <a:r>
              <a:rPr lang="en-US" altLang="en-US">
                <a:sym typeface="+mn-ea"/>
              </a:rPr>
              <a:t>let obj_1 = Child(Name: "Suratwala")</a:t>
            </a:r>
            <a:endParaRPr lang="en-US" altLang="en-US"/>
          </a:p>
          <a:p>
            <a:r>
              <a:rPr lang="en-US" altLang="en-US">
                <a:sym typeface="+mn-ea"/>
              </a:rPr>
              <a:t>obj_1.display()</a:t>
            </a:r>
            <a:endParaRPr lang="en-US" altLang="en-US"/>
          </a:p>
          <a:p>
            <a:endParaRPr lang="en-US" altLang="en-US"/>
          </a:p>
        </p:txBody>
      </p:sp>
      <p:sp>
        <p:nvSpPr>
          <p:cNvPr id="5" name="Text Box 4"/>
          <p:cNvSpPr txBox="1"/>
          <p:nvPr/>
        </p:nvSpPr>
        <p:spPr>
          <a:xfrm>
            <a:off x="5898515" y="4256087"/>
            <a:ext cx="5080000" cy="1076325"/>
          </a:xfrm>
          <a:prstGeom prst="rect">
            <a:avLst/>
          </a:prstGeom>
        </p:spPr>
        <p:txBody>
          <a:bodyPr>
            <a:spAutoFit/>
          </a:bodyPr>
          <a:p>
            <a:pPr marL="0" indent="0">
              <a:spcBef>
                <a:spcPct val="0"/>
              </a:spcBef>
              <a:spcAft>
                <a:spcPct val="0"/>
              </a:spcAft>
            </a:pPr>
            <a:r>
              <a:rPr lang="en-US" sz="1600">
                <a:solidFill>
                  <a:srgbClr val="000000"/>
                </a:solidFill>
              </a:rPr>
              <a:t>OUTPUT</a:t>
            </a:r>
            <a:endParaRPr sz="1600">
              <a:solidFill>
                <a:srgbClr val="000000"/>
              </a:solidFill>
            </a:endParaRPr>
          </a:p>
          <a:p>
            <a:pPr marL="0" indent="0">
              <a:spcBef>
                <a:spcPct val="0"/>
              </a:spcBef>
              <a:spcAft>
                <a:spcPct val="0"/>
              </a:spcAft>
            </a:pPr>
            <a:endParaRPr sz="1600">
              <a:solidFill>
                <a:srgbClr val="000000"/>
              </a:solidFill>
            </a:endParaRPr>
          </a:p>
          <a:p>
            <a:pPr marL="0" indent="0">
              <a:spcBef>
                <a:spcPct val="0"/>
              </a:spcBef>
              <a:spcAft>
                <a:spcPct val="0"/>
              </a:spcAft>
            </a:pPr>
            <a:r>
              <a:rPr sz="1600">
                <a:solidFill>
                  <a:srgbClr val="000000"/>
                </a:solidFill>
              </a:rPr>
              <a:t>an Extra Display Definition can go here</a:t>
            </a:r>
            <a:endParaRPr sz="1600">
              <a:solidFill>
                <a:srgbClr val="000000"/>
              </a:solidFill>
            </a:endParaRPr>
          </a:p>
          <a:p>
            <a:pPr marL="0" indent="0">
              <a:spcBef>
                <a:spcPct val="0"/>
              </a:spcBef>
              <a:spcAft>
                <a:spcPct val="0"/>
              </a:spcAft>
            </a:pPr>
            <a:r>
              <a:rPr sz="1600">
                <a:solidFill>
                  <a:srgbClr val="000000"/>
                </a:solidFill>
              </a:rPr>
              <a:t>Suratwala</a:t>
            </a:r>
            <a:endParaRPr sz="1600">
              <a:solidFill>
                <a:srgbClr val="0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t>‘Super’ </a:t>
            </a:r>
            <a:r>
              <a:rPr lang="en-US"/>
              <a:t>Keyword in Swift</a:t>
            </a:r>
            <a:endParaRPr lang="en-US"/>
          </a:p>
        </p:txBody>
      </p:sp>
      <p:sp>
        <p:nvSpPr>
          <p:cNvPr id="3" name="Content Placeholder 2"/>
          <p:cNvSpPr>
            <a:spLocks noGrp="1"/>
          </p:cNvSpPr>
          <p:nvPr>
            <p:ph idx="1"/>
          </p:nvPr>
        </p:nvSpPr>
        <p:spPr/>
        <p:txBody>
          <a:bodyPr/>
          <a:p>
            <a:r>
              <a:rPr lang="en-US" altLang="en-US"/>
              <a:t>We can access super class members using the super keyword in Swift.</a:t>
            </a:r>
            <a:endParaRPr lang="en-US" altLang="en-US"/>
          </a:p>
          <a:p>
            <a:r>
              <a:rPr lang="en-US" altLang="en-US"/>
              <a:t>To access a super class variable, we can use super.(variablename)</a:t>
            </a:r>
            <a:endParaRPr lang="en-US" altLang="en-US"/>
          </a:p>
          <a:p>
            <a:r>
              <a:rPr lang="en-US" altLang="en-US"/>
              <a:t>To access a super class method, we can use super.(methodname())</a:t>
            </a:r>
            <a:endParaRPr lang="en-US" altLang="en-US"/>
          </a:p>
          <a:p>
            <a:r>
              <a:rPr lang="en-US" altLang="en-US"/>
              <a:t>To access a super class constructor, we can use convenience initializer in subclass constructor.</a:t>
            </a:r>
            <a:endParaRPr lang="en-US"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Swift Protocols</a:t>
            </a:r>
            <a:endParaRPr lang="en-US"/>
          </a:p>
        </p:txBody>
      </p:sp>
      <p:sp>
        <p:nvSpPr>
          <p:cNvPr id="3" name="Content Placeholder 2"/>
          <p:cNvSpPr>
            <a:spLocks noGrp="1"/>
          </p:cNvSpPr>
          <p:nvPr>
            <p:ph idx="1"/>
          </p:nvPr>
        </p:nvSpPr>
        <p:spPr/>
        <p:txBody>
          <a:bodyPr/>
          <a:p>
            <a:r>
              <a:rPr lang="en-US"/>
              <a:t>Protocols are used to define a skeleton of classes, structues and methods that would require other types to implement a defined classes, methods and properties.</a:t>
            </a:r>
            <a:endParaRPr lang="en-US"/>
          </a:p>
          <a:p>
            <a:r>
              <a:rPr lang="en-US"/>
              <a:t>the defined protocol adopted by other classes or methods to provide an actual implementation of defined properties and methods.</a:t>
            </a:r>
            <a:endParaRPr lang="en-US"/>
          </a:p>
          <a:p>
            <a:r>
              <a:rPr lang="en-US"/>
              <a:t>If we worked on other programming languages the term protocol is similar to interfaces in java and C#.</a:t>
            </a:r>
            <a:endParaRPr lang="en-US"/>
          </a:p>
          <a:p>
            <a:r>
              <a:rPr lang="en-US"/>
              <a:t>Keyword : protocol to define the protocol.</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Syntax : Protocol</a:t>
            </a:r>
            <a:endParaRPr lang="en-US"/>
          </a:p>
        </p:txBody>
      </p:sp>
      <p:sp>
        <p:nvSpPr>
          <p:cNvPr id="3" name="Content Placeholder 2"/>
          <p:cNvSpPr>
            <a:spLocks noGrp="1"/>
          </p:cNvSpPr>
          <p:nvPr>
            <p:ph idx="1"/>
          </p:nvPr>
        </p:nvSpPr>
        <p:spPr/>
        <p:txBody>
          <a:bodyPr/>
          <a:p>
            <a:r>
              <a:rPr lang="en-US"/>
              <a:t>protocol protocol_name {</a:t>
            </a:r>
            <a:endParaRPr lang="en-US"/>
          </a:p>
          <a:p>
            <a:pPr lvl="1"/>
            <a:r>
              <a:rPr lang="en-US"/>
              <a:t>// Definition foes here</a:t>
            </a:r>
            <a:endParaRPr lang="en-US"/>
          </a:p>
          <a:p>
            <a:r>
              <a:rPr lang="en-US"/>
              <a:t>}</a:t>
            </a:r>
            <a:endParaRPr lang="en-US"/>
          </a:p>
          <a:p>
            <a:endParaRPr lang="en-US"/>
          </a:p>
          <a:p>
            <a:r>
              <a:rPr lang="en-US"/>
              <a:t>// Inheriting protocol (Single)</a:t>
            </a:r>
            <a:endParaRPr lang="en-US"/>
          </a:p>
          <a:p>
            <a:r>
              <a:rPr lang="en-US"/>
              <a:t>struct full_name_of_structure : First_Name_Protocol{</a:t>
            </a:r>
            <a:endParaRPr lang="en-US"/>
          </a:p>
          <a:p>
            <a:pPr lvl="1"/>
            <a:r>
              <a:rPr lang="en-US"/>
              <a:t>// Body Goes here</a:t>
            </a:r>
            <a:endParaRPr lang="en-US"/>
          </a:p>
          <a:p>
            <a:r>
              <a:rPr lang="en-US"/>
              <a:t>}</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Syntax :  Protocol</a:t>
            </a:r>
            <a:endParaRPr lang="en-US"/>
          </a:p>
        </p:txBody>
      </p:sp>
      <p:sp>
        <p:nvSpPr>
          <p:cNvPr id="3" name="Content Placeholder 2"/>
          <p:cNvSpPr>
            <a:spLocks noGrp="1"/>
          </p:cNvSpPr>
          <p:nvPr>
            <p:ph idx="1"/>
          </p:nvPr>
        </p:nvSpPr>
        <p:spPr/>
        <p:txBody>
          <a:bodyPr/>
          <a:p>
            <a:r>
              <a:rPr lang="en-US"/>
              <a:t>// Inheriting Multiple Protocol</a:t>
            </a:r>
            <a:endParaRPr lang="en-US"/>
          </a:p>
          <a:p>
            <a:r>
              <a:rPr lang="en-US"/>
              <a:t>struct full_name_of_Structure : Protocol1_Name ,  Protocol2_Name {</a:t>
            </a:r>
            <a:endParaRPr lang="en-US"/>
          </a:p>
          <a:p>
            <a:pPr lvl="1"/>
            <a:r>
              <a:rPr lang="en-US"/>
              <a:t>// body goes here</a:t>
            </a:r>
            <a:endParaRPr lang="en-US"/>
          </a:p>
          <a:p>
            <a:r>
              <a:rPr lang="en-US"/>
              <a:t>}</a:t>
            </a:r>
            <a:endParaRPr lang="en-US"/>
          </a:p>
          <a:p>
            <a:endParaRPr lang="en-US"/>
          </a:p>
          <a:p>
            <a:r>
              <a:rPr lang="en-US"/>
              <a:t>// Note :  the symbol ‘:’ is indicating that this type is going to inherit this protocol or class.</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Implementing Protocol to Protocol</a:t>
            </a:r>
            <a:endParaRPr lang="en-US"/>
          </a:p>
        </p:txBody>
      </p:sp>
      <p:sp>
        <p:nvSpPr>
          <p:cNvPr id="3" name="Content Placeholder 2"/>
          <p:cNvSpPr>
            <a:spLocks noGrp="1"/>
          </p:cNvSpPr>
          <p:nvPr>
            <p:ph idx="1"/>
          </p:nvPr>
        </p:nvSpPr>
        <p:spPr/>
        <p:txBody>
          <a:bodyPr/>
          <a:p>
            <a:r>
              <a:rPr lang="en-US"/>
              <a:t>Swift also provide the functionlity to implement protocol to another protocol.</a:t>
            </a:r>
            <a:endParaRPr lang="en-US"/>
          </a:p>
          <a:p>
            <a:r>
              <a:rPr lang="en-US"/>
              <a:t>Syntax :  Similar to Extending a Protocol to Class.</a:t>
            </a:r>
            <a:endParaRPr lang="en-US"/>
          </a:p>
          <a:p>
            <a:r>
              <a:rPr lang="en-US"/>
              <a:t>protocol A {</a:t>
            </a:r>
            <a:endParaRPr lang="en-US"/>
          </a:p>
          <a:p>
            <a:pPr lvl="1"/>
            <a:r>
              <a:rPr lang="en-US"/>
              <a:t>// Definition goes here</a:t>
            </a:r>
            <a:endParaRPr lang="en-US"/>
          </a:p>
          <a:p>
            <a:r>
              <a:rPr lang="en-US"/>
              <a:t>}</a:t>
            </a:r>
            <a:endParaRPr lang="en-US"/>
          </a:p>
          <a:p>
            <a:r>
              <a:rPr lang="en-US"/>
              <a:t>protocol B  :  A{</a:t>
            </a:r>
            <a:endParaRPr lang="en-US"/>
          </a:p>
          <a:p>
            <a:pPr lvl="1"/>
            <a:r>
              <a:rPr lang="en-US"/>
              <a:t>// definition goes here</a:t>
            </a:r>
            <a:endParaRPr lang="en-US"/>
          </a:p>
          <a:p>
            <a:pPr lvl="0"/>
            <a:r>
              <a:rPr lang="en-US"/>
              <a:t>}</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Multiple Protocol Inheritance</a:t>
            </a:r>
            <a:endParaRPr lang="en-US"/>
          </a:p>
        </p:txBody>
      </p:sp>
      <p:sp>
        <p:nvSpPr>
          <p:cNvPr id="3" name="Content Placeholder 2"/>
          <p:cNvSpPr>
            <a:spLocks noGrp="1"/>
          </p:cNvSpPr>
          <p:nvPr>
            <p:ph idx="1"/>
          </p:nvPr>
        </p:nvSpPr>
        <p:spPr/>
        <p:txBody>
          <a:bodyPr>
            <a:normAutofit fontScale="60000"/>
          </a:bodyPr>
          <a:p>
            <a:r>
              <a:rPr lang="en-US" altLang="en-US"/>
              <a:t>protocol A {</a:t>
            </a:r>
            <a:endParaRPr lang="en-US" altLang="en-US"/>
          </a:p>
          <a:p>
            <a:r>
              <a:rPr lang="en-US" altLang="en-US"/>
              <a:t>    func a()</a:t>
            </a:r>
            <a:endParaRPr lang="en-US" altLang="en-US"/>
          </a:p>
          <a:p>
            <a:r>
              <a:rPr lang="en-US" altLang="en-US"/>
              <a:t>}</a:t>
            </a:r>
            <a:endParaRPr lang="en-US" altLang="en-US"/>
          </a:p>
          <a:p>
            <a:endParaRPr lang="en-US" altLang="en-US"/>
          </a:p>
          <a:p>
            <a:r>
              <a:rPr lang="en-US" altLang="en-US"/>
              <a:t>protocol B {</a:t>
            </a:r>
            <a:endParaRPr lang="en-US" altLang="en-US"/>
          </a:p>
          <a:p>
            <a:r>
              <a:rPr lang="en-US" altLang="en-US"/>
              <a:t>    func b()</a:t>
            </a:r>
            <a:endParaRPr lang="en-US" altLang="en-US"/>
          </a:p>
          <a:p>
            <a:r>
              <a:rPr lang="en-US" altLang="en-US"/>
              <a:t>}</a:t>
            </a:r>
            <a:endParaRPr lang="en-US" altLang="en-US"/>
          </a:p>
          <a:p>
            <a:endParaRPr lang="en-US" altLang="en-US"/>
          </a:p>
          <a:p>
            <a:r>
              <a:rPr lang="en-US" altLang="en-US"/>
              <a:t>protocol C: A, B {</a:t>
            </a:r>
            <a:endParaRPr lang="en-US" altLang="en-US"/>
          </a:p>
          <a:p>
            <a:r>
              <a:rPr lang="en-US" altLang="en-US"/>
              <a:t>    func c()</a:t>
            </a:r>
            <a:endParaRPr lang="en-US" altLang="en-US"/>
          </a:p>
          <a:p>
            <a:r>
              <a:rPr lang="en-US" altLang="en-US"/>
              <a:t>}</a:t>
            </a:r>
            <a:endParaRPr lang="en-US" altLang="en-US"/>
          </a:p>
          <a:p>
            <a:endParaRPr lang="en-US"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Swift Extensions</a:t>
            </a:r>
            <a:endParaRPr lang="en-US"/>
          </a:p>
        </p:txBody>
      </p:sp>
      <p:sp>
        <p:nvSpPr>
          <p:cNvPr id="3" name="Content Placeholder 2"/>
          <p:cNvSpPr>
            <a:spLocks noGrp="1"/>
          </p:cNvSpPr>
          <p:nvPr>
            <p:ph idx="1"/>
          </p:nvPr>
        </p:nvSpPr>
        <p:spPr/>
        <p:txBody>
          <a:bodyPr>
            <a:normAutofit fontScale="90000"/>
          </a:bodyPr>
          <a:p>
            <a:r>
              <a:rPr lang="en-US" altLang="en-US"/>
              <a:t>In swift, Extension is the process of extending the functionality of an existing classes, structures, enumerations or protocol types by adding a new functionalities.By using extensions we can extend the functionality of types which we don’t have access to</a:t>
            </a:r>
            <a:endParaRPr lang="en-US" altLang="en-US"/>
          </a:p>
          <a:p>
            <a:r>
              <a:rPr lang="en-US" altLang="en-US"/>
              <a:t>the original source code. In swift, extensions can provide the following functionalities.</a:t>
            </a:r>
            <a:endParaRPr lang="en-US" altLang="en-US"/>
          </a:p>
          <a:p>
            <a:r>
              <a:rPr lang="en-US" altLang="en-US"/>
              <a:t> It can add a computed type instance properties</a:t>
            </a:r>
            <a:endParaRPr lang="en-US" altLang="en-US"/>
          </a:p>
          <a:p>
            <a:r>
              <a:rPr lang="en-US" altLang="en-US"/>
              <a:t> It can define an instance and type methods</a:t>
            </a:r>
            <a:endParaRPr lang="en-US" altLang="en-US"/>
          </a:p>
          <a:p>
            <a:r>
              <a:rPr lang="en-US" altLang="en-US"/>
              <a:t> Define a new nested types and subscripts.</a:t>
            </a:r>
            <a:endParaRPr lang="en-US" altLang="en-US"/>
          </a:p>
          <a:p>
            <a:r>
              <a:rPr lang="en-US" altLang="en-US"/>
              <a:t>Keyword : extension</a:t>
            </a:r>
            <a:endParaRPr lang="en-US"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Syntax :  Extension in Swift</a:t>
            </a:r>
            <a:endParaRPr lang="en-US"/>
          </a:p>
        </p:txBody>
      </p:sp>
      <p:sp>
        <p:nvSpPr>
          <p:cNvPr id="3" name="Content Placeholder 2"/>
          <p:cNvSpPr>
            <a:spLocks noGrp="1"/>
          </p:cNvSpPr>
          <p:nvPr>
            <p:ph idx="1"/>
          </p:nvPr>
        </p:nvSpPr>
        <p:spPr/>
        <p:txBody>
          <a:bodyPr/>
          <a:p>
            <a:r>
              <a:rPr lang="en-US"/>
              <a:t>extension Name_of_Type {</a:t>
            </a:r>
            <a:endParaRPr lang="en-US"/>
          </a:p>
          <a:p>
            <a:pPr lvl="1"/>
            <a:r>
              <a:rPr lang="en-US"/>
              <a:t>// New Functionlity and types</a:t>
            </a:r>
            <a:endParaRPr lang="en-US"/>
          </a:p>
          <a:p>
            <a:pPr lvl="0"/>
            <a:r>
              <a:rPr lang="en-US"/>
              <a:t>}</a:t>
            </a:r>
            <a:endParaRPr lang="en-US"/>
          </a:p>
          <a:p>
            <a:pPr lvl="0"/>
            <a:r>
              <a:rPr lang="en-US"/>
              <a:t>// Implementing or Extending to an Extension</a:t>
            </a:r>
            <a:endParaRPr lang="en-US"/>
          </a:p>
          <a:p>
            <a:pPr lvl="0"/>
            <a:endParaRPr lang="en-US"/>
          </a:p>
          <a:p>
            <a:pPr lvl="0"/>
            <a:r>
              <a:rPr lang="en-US"/>
              <a:t>extension Name_of_Type :  Protocol_1, Protocol_2{</a:t>
            </a:r>
            <a:endParaRPr lang="en-US"/>
          </a:p>
          <a:p>
            <a:pPr lvl="1"/>
            <a:r>
              <a:rPr lang="en-US"/>
              <a:t>// Implementation goes here</a:t>
            </a:r>
            <a:endParaRPr lang="en-US"/>
          </a:p>
          <a:p>
            <a:pPr lvl="0"/>
            <a:r>
              <a:rPr lang="en-US"/>
              <a:t>}</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Swift Extend Computed Properties</a:t>
            </a:r>
            <a:endParaRPr lang="en-US"/>
          </a:p>
        </p:txBody>
      </p:sp>
      <p:sp>
        <p:nvSpPr>
          <p:cNvPr id="3" name="Content Placeholder 2"/>
          <p:cNvSpPr>
            <a:spLocks noGrp="1"/>
          </p:cNvSpPr>
          <p:nvPr>
            <p:ph idx="1"/>
          </p:nvPr>
        </p:nvSpPr>
        <p:spPr/>
        <p:txBody>
          <a:bodyPr/>
          <a:p>
            <a:r>
              <a:rPr lang="en-US"/>
              <a:t>Computed properties are those properties which are calculated each and evry time in out code but i will not able to store the values.</a:t>
            </a:r>
            <a:endParaRPr lang="en-US"/>
          </a:p>
          <a:p>
            <a:endParaRPr lang="en-US"/>
          </a:p>
          <a:p>
            <a:r>
              <a:rPr lang="en-US"/>
              <a:t>It can be use in a Class, Structures and enumerations.</a:t>
            </a:r>
            <a:endParaRPr lang="en-US"/>
          </a:p>
          <a:p>
            <a:r>
              <a:rPr lang="en-US"/>
              <a:t>Extension allow user to add computed properties and computed type proeprties in the class.</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Example  :  Extension in Swift</a:t>
            </a:r>
            <a:endParaRPr lang="en-US"/>
          </a:p>
        </p:txBody>
      </p:sp>
      <p:sp>
        <p:nvSpPr>
          <p:cNvPr id="3" name="Content Placeholder 2"/>
          <p:cNvSpPr>
            <a:spLocks noGrp="1"/>
          </p:cNvSpPr>
          <p:nvPr>
            <p:ph idx="1"/>
          </p:nvPr>
        </p:nvSpPr>
        <p:spPr/>
        <p:txBody>
          <a:bodyPr>
            <a:normAutofit lnSpcReduction="10000"/>
          </a:bodyPr>
          <a:p>
            <a:r>
              <a:rPr lang="en-US" altLang="en-US"/>
              <a:t>extension String {</a:t>
            </a:r>
            <a:endParaRPr lang="en-US" altLang="en-US"/>
          </a:p>
          <a:p>
            <a:r>
              <a:rPr lang="en-US" altLang="en-US"/>
              <a:t>    func shout() -&gt; String {</a:t>
            </a:r>
            <a:endParaRPr lang="en-US" altLang="en-US"/>
          </a:p>
          <a:p>
            <a:r>
              <a:rPr lang="en-US" altLang="en-US"/>
              <a:t>        return self.uppercased() </a:t>
            </a:r>
            <a:endParaRPr lang="en-US" altLang="en-US"/>
          </a:p>
          <a:p>
            <a:r>
              <a:rPr lang="en-US" altLang="en-US"/>
              <a:t>    }</a:t>
            </a:r>
            <a:endParaRPr lang="en-US" altLang="en-US"/>
          </a:p>
          <a:p>
            <a:r>
              <a:rPr lang="en-US" altLang="en-US"/>
              <a:t>}</a:t>
            </a:r>
            <a:endParaRPr lang="en-US" altLang="en-US"/>
          </a:p>
          <a:p>
            <a:endParaRPr lang="en-US" altLang="en-US"/>
          </a:p>
          <a:p>
            <a:r>
              <a:rPr lang="en-US" altLang="en-US"/>
              <a:t>// USAGE</a:t>
            </a:r>
            <a:endParaRPr lang="en-US" altLang="en-US"/>
          </a:p>
          <a:p>
            <a:r>
              <a:rPr lang="en-US" altLang="en-US"/>
              <a:t>let text = "hello"</a:t>
            </a:r>
            <a:endParaRPr lang="en-US" altLang="en-US"/>
          </a:p>
          <a:p>
            <a:r>
              <a:rPr lang="en-US" altLang="en-US"/>
              <a:t>print(text.shout())</a:t>
            </a:r>
            <a:endParaRPr lang="en-US" altLang="en-US"/>
          </a:p>
          <a:p>
            <a:endParaRPr lang="en-US"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Swift Intialization</a:t>
            </a:r>
            <a:endParaRPr lang="en-US"/>
          </a:p>
        </p:txBody>
      </p:sp>
      <p:sp>
        <p:nvSpPr>
          <p:cNvPr id="3" name="Content Placeholder 2"/>
          <p:cNvSpPr>
            <a:spLocks noGrp="1"/>
          </p:cNvSpPr>
          <p:nvPr>
            <p:ph idx="1"/>
          </p:nvPr>
        </p:nvSpPr>
        <p:spPr/>
        <p:txBody>
          <a:bodyPr/>
          <a:p>
            <a:r>
              <a:rPr lang="en-US"/>
              <a:t>Intialization is a Special type of method in a class , stucture or enum and it is responsible for making sure a newly created instance of class , stucture or enum is fullt intializaed and perform other tasks that is required new instance is ready for use in out application.</a:t>
            </a:r>
            <a:endParaRPr lang="en-US"/>
          </a:p>
          <a:p>
            <a:r>
              <a:rPr lang="en-US"/>
              <a:t>Syntax :</a:t>
            </a:r>
            <a:endParaRPr lang="en-US"/>
          </a:p>
          <a:p>
            <a:pPr lvl="1"/>
            <a:r>
              <a:rPr lang="en-US"/>
              <a:t>init(){</a:t>
            </a:r>
            <a:endParaRPr lang="en-US"/>
          </a:p>
          <a:p>
            <a:pPr lvl="1"/>
            <a:r>
              <a:rPr lang="en-US"/>
              <a:t> // Intialization must go here</a:t>
            </a:r>
            <a:endParaRPr lang="en-US"/>
          </a:p>
          <a:p>
            <a:pPr lvl="1"/>
            <a:r>
              <a:rPr lang="en-US"/>
              <a:t>}</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Types of Intialization</a:t>
            </a:r>
            <a:endParaRPr lang="en-US"/>
          </a:p>
        </p:txBody>
      </p:sp>
      <p:sp>
        <p:nvSpPr>
          <p:cNvPr id="3" name="Content Placeholder 2"/>
          <p:cNvSpPr>
            <a:spLocks noGrp="1"/>
          </p:cNvSpPr>
          <p:nvPr>
            <p:ph idx="1"/>
          </p:nvPr>
        </p:nvSpPr>
        <p:spPr/>
        <p:txBody>
          <a:bodyPr/>
          <a:p>
            <a:r>
              <a:rPr lang="en-US"/>
              <a:t>1. Default parameter</a:t>
            </a:r>
            <a:endParaRPr lang="en-US"/>
          </a:p>
          <a:p>
            <a:r>
              <a:rPr lang="en-US"/>
              <a:t>2. init() with no parameter</a:t>
            </a:r>
            <a:endParaRPr lang="en-US"/>
          </a:p>
          <a:p>
            <a:r>
              <a:rPr lang="en-US"/>
              <a:t>3. init() with single parameter</a:t>
            </a:r>
            <a:endParaRPr lang="en-US"/>
          </a:p>
          <a:p>
            <a:r>
              <a:rPr lang="en-US"/>
              <a:t>4. init() with multiple parameter</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1. Default Parameter</a:t>
            </a:r>
            <a:endParaRPr lang="en-US"/>
          </a:p>
        </p:txBody>
      </p:sp>
      <p:sp>
        <p:nvSpPr>
          <p:cNvPr id="3" name="Content Placeholder 2"/>
          <p:cNvSpPr>
            <a:spLocks noGrp="1"/>
          </p:cNvSpPr>
          <p:nvPr>
            <p:ph idx="1"/>
          </p:nvPr>
        </p:nvSpPr>
        <p:spPr/>
        <p:txBody>
          <a:bodyPr>
            <a:normAutofit lnSpcReduction="10000"/>
          </a:bodyPr>
          <a:p>
            <a:pPr marL="0" indent="0">
              <a:buNone/>
            </a:pPr>
            <a:r>
              <a:rPr lang="en-US" altLang="en-US"/>
              <a:t>struct User {</a:t>
            </a:r>
            <a:endParaRPr lang="en-US" altLang="en-US"/>
          </a:p>
          <a:p>
            <a:pPr marL="0" indent="0">
              <a:buNone/>
            </a:pPr>
            <a:r>
              <a:rPr lang="en-US" altLang="en-US"/>
              <a:t>    var name: String</a:t>
            </a:r>
            <a:endParaRPr lang="en-US" altLang="en-US"/>
          </a:p>
          <a:p>
            <a:pPr marL="0" indent="0">
              <a:buNone/>
            </a:pPr>
            <a:r>
              <a:rPr lang="en-US" altLang="en-US"/>
              <a:t>    var age: Int</a:t>
            </a:r>
            <a:endParaRPr lang="en-US" altLang="en-US"/>
          </a:p>
          <a:p>
            <a:pPr marL="0" indent="0">
              <a:buNone/>
            </a:pPr>
            <a:endParaRPr lang="en-US" altLang="en-US"/>
          </a:p>
          <a:p>
            <a:pPr marL="0" indent="0">
              <a:buNone/>
            </a:pPr>
            <a:r>
              <a:rPr lang="en-US" altLang="en-US"/>
              <a:t>    init(name: String = "Guest", age: Int = 18) {</a:t>
            </a:r>
            <a:endParaRPr lang="en-US" altLang="en-US"/>
          </a:p>
          <a:p>
            <a:pPr marL="0" indent="0">
              <a:buNone/>
            </a:pPr>
            <a:r>
              <a:rPr lang="en-US" altLang="en-US"/>
              <a:t>        self.name = name</a:t>
            </a:r>
            <a:endParaRPr lang="en-US" altLang="en-US"/>
          </a:p>
          <a:p>
            <a:pPr marL="0" indent="0">
              <a:buNone/>
            </a:pPr>
            <a:r>
              <a:rPr lang="en-US" altLang="en-US"/>
              <a:t>        self.age = age</a:t>
            </a:r>
            <a:endParaRPr lang="en-US" altLang="en-US"/>
          </a:p>
          <a:p>
            <a:pPr marL="0" indent="0">
              <a:buNone/>
            </a:pPr>
            <a:r>
              <a:rPr lang="en-US" altLang="en-US"/>
              <a:t>    }</a:t>
            </a:r>
            <a:endParaRPr lang="en-US" altLang="en-US"/>
          </a:p>
          <a:p>
            <a:pPr marL="0" indent="0">
              <a:buNone/>
            </a:pPr>
            <a:r>
              <a:rPr lang="en-US" altLang="en-US"/>
              <a:t>}</a:t>
            </a:r>
            <a:endParaRPr lang="en-US" altLang="en-US"/>
          </a:p>
          <a:p>
            <a:pPr marL="0" indent="0">
              <a:buNone/>
            </a:pPr>
            <a:endParaRPr lang="en-US"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2. init() without Parameter</a:t>
            </a:r>
            <a:endParaRPr lang="en-US"/>
          </a:p>
        </p:txBody>
      </p:sp>
      <p:sp>
        <p:nvSpPr>
          <p:cNvPr id="3" name="Content Placeholder 2"/>
          <p:cNvSpPr>
            <a:spLocks noGrp="1"/>
          </p:cNvSpPr>
          <p:nvPr>
            <p:ph idx="1"/>
          </p:nvPr>
        </p:nvSpPr>
        <p:spPr/>
        <p:txBody>
          <a:bodyPr>
            <a:normAutofit lnSpcReduction="10000"/>
          </a:bodyPr>
          <a:p>
            <a:r>
              <a:rPr lang="en-US" altLang="en-US"/>
              <a:t>struct User {</a:t>
            </a:r>
            <a:endParaRPr lang="en-US" altLang="en-US"/>
          </a:p>
          <a:p>
            <a:r>
              <a:rPr lang="en-US" altLang="en-US"/>
              <a:t>    var name: String</a:t>
            </a:r>
            <a:endParaRPr lang="en-US" altLang="en-US"/>
          </a:p>
          <a:p>
            <a:r>
              <a:rPr lang="en-US" altLang="en-US"/>
              <a:t>    var age: Int</a:t>
            </a:r>
            <a:endParaRPr lang="en-US" altLang="en-US"/>
          </a:p>
          <a:p>
            <a:endParaRPr lang="en-US" altLang="en-US"/>
          </a:p>
          <a:p>
            <a:r>
              <a:rPr lang="en-US" altLang="en-US"/>
              <a:t>    init() {</a:t>
            </a:r>
            <a:endParaRPr lang="en-US" altLang="en-US"/>
          </a:p>
          <a:p>
            <a:r>
              <a:rPr lang="en-US" altLang="en-US"/>
              <a:t>        self.name = "Guest"</a:t>
            </a:r>
            <a:endParaRPr lang="en-US" altLang="en-US"/>
          </a:p>
          <a:p>
            <a:r>
              <a:rPr lang="en-US" altLang="en-US"/>
              <a:t>        self.age = 18</a:t>
            </a:r>
            <a:endParaRPr lang="en-US" altLang="en-US"/>
          </a:p>
          <a:p>
            <a:r>
              <a:rPr lang="en-US" altLang="en-US"/>
              <a:t>    }</a:t>
            </a:r>
            <a:endParaRPr lang="en-US" altLang="en-US"/>
          </a:p>
          <a:p>
            <a:r>
              <a:rPr lang="en-US" altLang="en-US"/>
              <a:t>}</a:t>
            </a:r>
            <a:endParaRPr lang="en-US" altLang="en-US"/>
          </a:p>
          <a:p>
            <a:endParaRPr lang="en-US"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3. init() with single parameter</a:t>
            </a:r>
            <a:endParaRPr lang="en-US"/>
          </a:p>
        </p:txBody>
      </p:sp>
      <p:sp>
        <p:nvSpPr>
          <p:cNvPr id="3" name="Content Placeholder 2"/>
          <p:cNvSpPr>
            <a:spLocks noGrp="1"/>
          </p:cNvSpPr>
          <p:nvPr>
            <p:ph idx="1"/>
          </p:nvPr>
        </p:nvSpPr>
        <p:spPr/>
        <p:txBody>
          <a:bodyPr>
            <a:normAutofit lnSpcReduction="20000"/>
          </a:bodyPr>
          <a:p>
            <a:r>
              <a:rPr lang="en-US" altLang="en-US"/>
              <a:t>struct User {</a:t>
            </a:r>
            <a:endParaRPr lang="en-US" altLang="en-US"/>
          </a:p>
          <a:p>
            <a:r>
              <a:rPr lang="en-US" altLang="en-US"/>
              <a:t>    var name: String</a:t>
            </a:r>
            <a:endParaRPr lang="en-US" altLang="en-US"/>
          </a:p>
          <a:p>
            <a:r>
              <a:rPr lang="en-US" altLang="en-US"/>
              <a:t>    var age: Int</a:t>
            </a:r>
            <a:endParaRPr lang="en-US" altLang="en-US"/>
          </a:p>
          <a:p>
            <a:endParaRPr lang="en-US" altLang="en-US"/>
          </a:p>
          <a:p>
            <a:r>
              <a:rPr lang="en-US" altLang="en-US"/>
              <a:t>    init(name: String) {</a:t>
            </a:r>
            <a:endParaRPr lang="en-US" altLang="en-US"/>
          </a:p>
          <a:p>
            <a:r>
              <a:rPr lang="en-US" altLang="en-US"/>
              <a:t>        self.name = name</a:t>
            </a:r>
            <a:endParaRPr lang="en-US" altLang="en-US"/>
          </a:p>
          <a:p>
            <a:r>
              <a:rPr lang="en-US" altLang="en-US"/>
              <a:t>        self.age = 18</a:t>
            </a:r>
            <a:endParaRPr lang="en-US" altLang="en-US"/>
          </a:p>
          <a:p>
            <a:r>
              <a:rPr lang="en-US" altLang="en-US"/>
              <a:t>    }</a:t>
            </a:r>
            <a:endParaRPr lang="en-US" altLang="en-US"/>
          </a:p>
          <a:p>
            <a:r>
              <a:rPr lang="en-US" altLang="en-US"/>
              <a:t>}</a:t>
            </a:r>
            <a:endParaRPr lang="en-US" altLang="en-US"/>
          </a:p>
          <a:p>
            <a:r>
              <a:rPr lang="en-US" altLang="en-US"/>
              <a:t>User(name: "Ruta")</a:t>
            </a:r>
            <a:endParaRPr lang="en-US" altLang="en-US"/>
          </a:p>
          <a:p>
            <a:endParaRPr lang="en-US" altLang="en-US"/>
          </a:p>
          <a:p>
            <a:endParaRPr lang="en-US"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4. init() with multiple parameter</a:t>
            </a:r>
            <a:endParaRPr lang="en-US"/>
          </a:p>
        </p:txBody>
      </p:sp>
      <p:sp>
        <p:nvSpPr>
          <p:cNvPr id="3" name="Content Placeholder 2"/>
          <p:cNvSpPr>
            <a:spLocks noGrp="1"/>
          </p:cNvSpPr>
          <p:nvPr>
            <p:ph idx="1"/>
          </p:nvPr>
        </p:nvSpPr>
        <p:spPr/>
        <p:txBody>
          <a:bodyPr>
            <a:normAutofit lnSpcReduction="20000"/>
          </a:bodyPr>
          <a:p>
            <a:r>
              <a:rPr lang="en-US" altLang="en-US"/>
              <a:t>struct User {</a:t>
            </a:r>
            <a:endParaRPr lang="en-US" altLang="en-US"/>
          </a:p>
          <a:p>
            <a:r>
              <a:rPr lang="en-US" altLang="en-US"/>
              <a:t>    var name: String</a:t>
            </a:r>
            <a:endParaRPr lang="en-US" altLang="en-US"/>
          </a:p>
          <a:p>
            <a:r>
              <a:rPr lang="en-US" altLang="en-US"/>
              <a:t>    var age: Int</a:t>
            </a:r>
            <a:endParaRPr lang="en-US" altLang="en-US"/>
          </a:p>
          <a:p>
            <a:endParaRPr lang="en-US" altLang="en-US"/>
          </a:p>
          <a:p>
            <a:r>
              <a:rPr lang="en-US" altLang="en-US"/>
              <a:t>    init(name: String, age: Int) {</a:t>
            </a:r>
            <a:endParaRPr lang="en-US" altLang="en-US"/>
          </a:p>
          <a:p>
            <a:r>
              <a:rPr lang="en-US" altLang="en-US"/>
              <a:t>        self.name = name</a:t>
            </a:r>
            <a:endParaRPr lang="en-US" altLang="en-US"/>
          </a:p>
          <a:p>
            <a:r>
              <a:rPr lang="en-US" altLang="en-US"/>
              <a:t>        self.age = age</a:t>
            </a:r>
            <a:endParaRPr lang="en-US" altLang="en-US"/>
          </a:p>
          <a:p>
            <a:r>
              <a:rPr lang="en-US" altLang="en-US"/>
              <a:t>    }</a:t>
            </a:r>
            <a:endParaRPr lang="en-US" altLang="en-US"/>
          </a:p>
          <a:p>
            <a:r>
              <a:rPr lang="en-US" altLang="en-US"/>
              <a:t>}</a:t>
            </a:r>
            <a:endParaRPr lang="en-US" altLang="en-US"/>
          </a:p>
          <a:p>
            <a:r>
              <a:rPr lang="en-US" altLang="en-US"/>
              <a:t>User(name: "Ruta", age: 21)</a:t>
            </a:r>
            <a:endParaRPr lang="en-US" altLang="en-US"/>
          </a:p>
          <a:p>
            <a:endParaRPr lang="en-US"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Swift Enumeration</a:t>
            </a:r>
            <a:endParaRPr lang="en-US"/>
          </a:p>
        </p:txBody>
      </p:sp>
      <p:sp>
        <p:nvSpPr>
          <p:cNvPr id="3" name="Content Placeholder 2"/>
          <p:cNvSpPr>
            <a:spLocks noGrp="1"/>
          </p:cNvSpPr>
          <p:nvPr>
            <p:ph idx="1"/>
          </p:nvPr>
        </p:nvSpPr>
        <p:spPr/>
        <p:txBody>
          <a:bodyPr/>
          <a:p>
            <a:r>
              <a:rPr lang="en-US"/>
              <a:t>Enum is a datatype which consist a set of related values and it allows us to use those defined values in our code in a type-safe manner.</a:t>
            </a:r>
            <a:endParaRPr lang="en-US"/>
          </a:p>
          <a:p>
            <a:r>
              <a:rPr lang="en-US"/>
              <a:t>Syntax : </a:t>
            </a:r>
            <a:endParaRPr lang="en-US"/>
          </a:p>
          <a:p>
            <a:pPr lvl="1"/>
            <a:r>
              <a:rPr lang="en-US"/>
              <a:t>enum enumname {</a:t>
            </a:r>
            <a:endParaRPr lang="en-US"/>
          </a:p>
          <a:p>
            <a:pPr lvl="2"/>
            <a:r>
              <a:rPr lang="en-US"/>
              <a:t>//case A</a:t>
            </a:r>
            <a:endParaRPr lang="en-US"/>
          </a:p>
          <a:p>
            <a:pPr lvl="2"/>
            <a:r>
              <a:rPr lang="en-US"/>
              <a:t>//case B</a:t>
            </a:r>
            <a:endParaRPr lang="en-US"/>
          </a:p>
          <a:p>
            <a:pPr lvl="2"/>
            <a:r>
              <a:rPr lang="en-US"/>
              <a:t> </a:t>
            </a:r>
            <a:endParaRPr lang="en-US"/>
          </a:p>
          <a:p>
            <a:pPr lvl="2"/>
            <a:r>
              <a:rPr lang="en-US"/>
              <a:t> // Case N</a:t>
            </a:r>
            <a:endParaRPr lang="en-US"/>
          </a:p>
          <a:p>
            <a:pPr lvl="1"/>
            <a:r>
              <a:rPr lang="en-US" sz="2400"/>
              <a:t>}</a:t>
            </a:r>
            <a:endParaRPr lang="en-US"/>
          </a:p>
          <a:p>
            <a:pPr lvl="2"/>
            <a:endParaRPr lang="en-US"/>
          </a:p>
          <a:p>
            <a:pPr lvl="2"/>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Basic Example of ENUM</a:t>
            </a:r>
            <a:endParaRPr lang="en-US"/>
          </a:p>
        </p:txBody>
      </p:sp>
      <p:sp>
        <p:nvSpPr>
          <p:cNvPr id="3" name="Content Placeholder 2"/>
          <p:cNvSpPr>
            <a:spLocks noGrp="1"/>
          </p:cNvSpPr>
          <p:nvPr>
            <p:ph idx="1"/>
          </p:nvPr>
        </p:nvSpPr>
        <p:spPr/>
        <p:txBody>
          <a:bodyPr/>
          <a:p>
            <a:r>
              <a:rPr lang="en-US" altLang="en-US"/>
              <a:t>enum TrafficLight {</a:t>
            </a:r>
            <a:endParaRPr lang="en-US" altLang="en-US"/>
          </a:p>
          <a:p>
            <a:r>
              <a:rPr lang="en-US" altLang="en-US"/>
              <a:t>    case red</a:t>
            </a:r>
            <a:endParaRPr lang="en-US" altLang="en-US"/>
          </a:p>
          <a:p>
            <a:r>
              <a:rPr lang="en-US" altLang="en-US"/>
              <a:t>    case yellow</a:t>
            </a:r>
            <a:endParaRPr lang="en-US" altLang="en-US"/>
          </a:p>
          <a:p>
            <a:r>
              <a:rPr lang="en-US" altLang="en-US"/>
              <a:t>    case green</a:t>
            </a:r>
            <a:endParaRPr lang="en-US" altLang="en-US"/>
          </a:p>
          <a:p>
            <a:r>
              <a:rPr lang="en-US" altLang="en-US"/>
              <a:t>}</a:t>
            </a:r>
            <a:endParaRPr lang="en-US" altLang="en-US"/>
          </a:p>
          <a:p>
            <a:r>
              <a:rPr lang="en-US" altLang="en-US"/>
              <a:t>var signal = TrafficLight.red</a:t>
            </a:r>
            <a:endParaRPr lang="en-US" altLang="en-US"/>
          </a:p>
          <a:p>
            <a:r>
              <a:rPr lang="en-US" altLang="en-US"/>
              <a:t>signal = .green</a:t>
            </a:r>
            <a:endParaRPr lang="en-US" altLang="en-US"/>
          </a:p>
          <a:p>
            <a:r>
              <a:rPr lang="en-US" altLang="en-US"/>
              <a:t>Swift already knows type, so no need to write full name</a:t>
            </a:r>
            <a:endParaRPr lang="en-US"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t>Using enum with switch case - from ChatGPT</a:t>
            </a:r>
            <a:endParaRPr lang="en-US"/>
          </a:p>
        </p:txBody>
      </p:sp>
      <p:sp>
        <p:nvSpPr>
          <p:cNvPr id="3" name="Content Placeholder 2"/>
          <p:cNvSpPr>
            <a:spLocks noGrp="1"/>
          </p:cNvSpPr>
          <p:nvPr>
            <p:ph idx="1"/>
          </p:nvPr>
        </p:nvSpPr>
        <p:spPr/>
        <p:txBody>
          <a:bodyPr>
            <a:normAutofit lnSpcReduction="20000"/>
          </a:bodyPr>
          <a:p>
            <a:r>
              <a:rPr lang="en-US" altLang="en-US"/>
              <a:t>switch signal {</a:t>
            </a:r>
            <a:endParaRPr lang="en-US" altLang="en-US"/>
          </a:p>
          <a:p>
            <a:r>
              <a:rPr lang="en-US" altLang="en-US"/>
              <a:t>case .red:</a:t>
            </a:r>
            <a:endParaRPr lang="en-US" altLang="en-US"/>
          </a:p>
          <a:p>
            <a:r>
              <a:rPr lang="en-US" altLang="en-US"/>
              <a:t>    print("Stop </a:t>
            </a:r>
            <a:r>
              <a:rPr lang="zh-CN" altLang="en-US"/>
              <a:t>🚫</a:t>
            </a:r>
            <a:r>
              <a:rPr lang="en-US" altLang="en-US"/>
              <a:t>")</a:t>
            </a:r>
            <a:endParaRPr lang="en-US" altLang="en-US"/>
          </a:p>
          <a:p>
            <a:endParaRPr lang="en-US" altLang="en-US"/>
          </a:p>
          <a:p>
            <a:r>
              <a:rPr lang="en-US" altLang="en-US"/>
              <a:t>case .yellow:</a:t>
            </a:r>
            <a:endParaRPr lang="en-US" altLang="en-US"/>
          </a:p>
          <a:p>
            <a:r>
              <a:rPr lang="en-US" altLang="en-US"/>
              <a:t>    print("Slow down </a:t>
            </a:r>
            <a:r>
              <a:rPr lang="zh-CN" altLang="en-US"/>
              <a:t>⚠</a:t>
            </a:r>
            <a:r>
              <a:rPr lang="" altLang="en-US"/>
              <a:t>️</a:t>
            </a:r>
            <a:r>
              <a:rPr lang="en-US" altLang="en-US"/>
              <a:t>")</a:t>
            </a:r>
            <a:endParaRPr lang="en-US" altLang="en-US"/>
          </a:p>
          <a:p>
            <a:endParaRPr lang="en-US" altLang="en-US"/>
          </a:p>
          <a:p>
            <a:r>
              <a:rPr lang="en-US" altLang="en-US"/>
              <a:t>case .green:</a:t>
            </a:r>
            <a:endParaRPr lang="en-US" altLang="en-US"/>
          </a:p>
          <a:p>
            <a:r>
              <a:rPr lang="en-US" altLang="en-US"/>
              <a:t>    print("Go </a:t>
            </a:r>
            <a:r>
              <a:rPr lang="zh-CN" altLang="en-US"/>
              <a:t>🚀</a:t>
            </a:r>
            <a:r>
              <a:rPr lang="en-US" altLang="en-US"/>
              <a:t>")</a:t>
            </a:r>
            <a:endParaRPr lang="en-US" altLang="en-US"/>
          </a:p>
          <a:p>
            <a:r>
              <a:rPr lang="en-US" altLang="en-US"/>
              <a:t>}</a:t>
            </a:r>
            <a:endParaRPr lang="en-US" altLang="en-US"/>
          </a:p>
          <a:p>
            <a:endParaRPr lang="en-US"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Enum with Raw Values</a:t>
            </a:r>
            <a:endParaRPr lang="en-US"/>
          </a:p>
        </p:txBody>
      </p:sp>
      <p:sp>
        <p:nvSpPr>
          <p:cNvPr id="3" name="Content Placeholder 2"/>
          <p:cNvSpPr>
            <a:spLocks noGrp="1"/>
          </p:cNvSpPr>
          <p:nvPr>
            <p:ph idx="1"/>
          </p:nvPr>
        </p:nvSpPr>
        <p:spPr/>
        <p:txBody>
          <a:bodyPr/>
          <a:p>
            <a:r>
              <a:rPr lang="en-US" altLang="en-US"/>
              <a:t>enum Weekday: String {</a:t>
            </a:r>
            <a:endParaRPr lang="en-US" altLang="en-US"/>
          </a:p>
          <a:p>
            <a:r>
              <a:rPr lang="en-US" altLang="en-US"/>
              <a:t>    case mon = "Monday"</a:t>
            </a:r>
            <a:endParaRPr lang="en-US" altLang="en-US"/>
          </a:p>
          <a:p>
            <a:r>
              <a:rPr lang="en-US" altLang="en-US"/>
              <a:t>    case tue = "Tuesday"</a:t>
            </a:r>
            <a:endParaRPr lang="en-US" altLang="en-US"/>
          </a:p>
          <a:p>
            <a:r>
              <a:rPr lang="en-US" altLang="en-US"/>
              <a:t>    case wed = "Wednesday"</a:t>
            </a:r>
            <a:endParaRPr lang="en-US" altLang="en-US"/>
          </a:p>
          <a:p>
            <a:r>
              <a:rPr lang="en-US" altLang="en-US"/>
              <a:t>}</a:t>
            </a:r>
            <a:endParaRPr lang="en-US" altLang="en-US"/>
          </a:p>
          <a:p>
            <a:endParaRPr lang="en-US" altLang="en-US"/>
          </a:p>
          <a:p>
            <a:r>
              <a:rPr lang="en-US" altLang="en-US"/>
              <a:t>let day = Weekday.mon</a:t>
            </a:r>
            <a:endParaRPr lang="en-US" altLang="en-US"/>
          </a:p>
          <a:p>
            <a:r>
              <a:rPr lang="en-US" altLang="en-US"/>
              <a:t>print(day.rawValue)</a:t>
            </a:r>
            <a:endParaRPr lang="en-US" altLang="en-US"/>
          </a:p>
          <a:p>
            <a:endParaRPr lang="en-US"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ENUM with Associated values</a:t>
            </a:r>
            <a:endParaRPr lang="en-US"/>
          </a:p>
        </p:txBody>
      </p:sp>
      <p:sp>
        <p:nvSpPr>
          <p:cNvPr id="3" name="Content Placeholder 2"/>
          <p:cNvSpPr>
            <a:spLocks noGrp="1"/>
          </p:cNvSpPr>
          <p:nvPr>
            <p:ph idx="1"/>
          </p:nvPr>
        </p:nvSpPr>
        <p:spPr/>
        <p:txBody>
          <a:bodyPr>
            <a:normAutofit fontScale="60000"/>
          </a:bodyPr>
          <a:p>
            <a:r>
              <a:rPr lang="en-US" altLang="en-US"/>
              <a:t>enum Result {</a:t>
            </a:r>
            <a:endParaRPr lang="en-US" altLang="en-US"/>
          </a:p>
          <a:p>
            <a:r>
              <a:rPr lang="en-US" altLang="en-US"/>
              <a:t>    case success(String)</a:t>
            </a:r>
            <a:endParaRPr lang="en-US" altLang="en-US"/>
          </a:p>
          <a:p>
            <a:r>
              <a:rPr lang="en-US" altLang="en-US"/>
              <a:t>    case failure(String)</a:t>
            </a:r>
            <a:endParaRPr lang="en-US" altLang="en-US"/>
          </a:p>
          <a:p>
            <a:r>
              <a:rPr lang="en-US" altLang="en-US"/>
              <a:t>}</a:t>
            </a:r>
            <a:endParaRPr lang="en-US" altLang="en-US"/>
          </a:p>
          <a:p>
            <a:r>
              <a:rPr lang="en-US" altLang="en-US"/>
              <a:t>let response = Result.success("Data loaded")</a:t>
            </a:r>
            <a:endParaRPr lang="en-US" altLang="en-US"/>
          </a:p>
          <a:p>
            <a:r>
              <a:rPr lang="en-US" altLang="en-US"/>
              <a:t>switch response {</a:t>
            </a:r>
            <a:endParaRPr lang="en-US" altLang="en-US"/>
          </a:p>
          <a:p>
            <a:r>
              <a:rPr lang="en-US" altLang="en-US"/>
              <a:t>case .success(let message):</a:t>
            </a:r>
            <a:endParaRPr lang="en-US" altLang="en-US"/>
          </a:p>
          <a:p>
            <a:r>
              <a:rPr lang="en-US" altLang="en-US"/>
              <a:t>    print(message)</a:t>
            </a:r>
            <a:endParaRPr lang="en-US" altLang="en-US"/>
          </a:p>
          <a:p>
            <a:endParaRPr lang="en-US" altLang="en-US"/>
          </a:p>
          <a:p>
            <a:r>
              <a:rPr lang="en-US" altLang="en-US"/>
              <a:t>case .failure(let error):</a:t>
            </a:r>
            <a:endParaRPr lang="en-US" altLang="en-US"/>
          </a:p>
          <a:p>
            <a:r>
              <a:rPr lang="en-US" altLang="en-US"/>
              <a:t>    print(error)</a:t>
            </a:r>
            <a:endParaRPr lang="en-US" altLang="en-US"/>
          </a:p>
          <a:p>
            <a:r>
              <a:rPr lang="en-US" altLang="en-US"/>
              <a:t>}</a:t>
            </a:r>
            <a:endParaRPr lang="en-US" altLang="en-US"/>
          </a:p>
          <a:p>
            <a:endParaRPr lang="en-US"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ENUM with Methods</a:t>
            </a:r>
            <a:endParaRPr lang="en-US"/>
          </a:p>
        </p:txBody>
      </p:sp>
      <p:sp>
        <p:nvSpPr>
          <p:cNvPr id="3" name="Content Placeholder 2"/>
          <p:cNvSpPr>
            <a:spLocks noGrp="1"/>
          </p:cNvSpPr>
          <p:nvPr>
            <p:ph idx="1"/>
          </p:nvPr>
        </p:nvSpPr>
        <p:spPr/>
        <p:txBody>
          <a:bodyPr/>
          <a:p>
            <a:r>
              <a:rPr lang="en-US" altLang="en-US"/>
              <a:t>enum Direction {</a:t>
            </a:r>
            <a:endParaRPr lang="en-US" altLang="en-US"/>
          </a:p>
          <a:p>
            <a:r>
              <a:rPr lang="en-US" altLang="en-US"/>
              <a:t>    case north, south, east, west</a:t>
            </a:r>
            <a:endParaRPr lang="en-US" altLang="en-US"/>
          </a:p>
          <a:p>
            <a:endParaRPr lang="en-US" altLang="en-US"/>
          </a:p>
          <a:p>
            <a:r>
              <a:rPr lang="en-US" altLang="en-US"/>
              <a:t>    func move() {</a:t>
            </a:r>
            <a:endParaRPr lang="en-US" altLang="en-US"/>
          </a:p>
          <a:p>
            <a:r>
              <a:rPr lang="en-US" altLang="en-US"/>
              <a:t>        print("Moving \(self)")</a:t>
            </a:r>
            <a:endParaRPr lang="en-US" altLang="en-US"/>
          </a:p>
          <a:p>
            <a:r>
              <a:rPr lang="en-US" altLang="en-US"/>
              <a:t>    }</a:t>
            </a:r>
            <a:endParaRPr lang="en-US" altLang="en-US"/>
          </a:p>
          <a:p>
            <a:r>
              <a:rPr lang="en-US" altLang="en-US"/>
              <a:t>}</a:t>
            </a:r>
            <a:endParaRPr lang="en-US" altLang="en-US"/>
          </a:p>
          <a:p>
            <a:r>
              <a:rPr lang="en-US" altLang="en-US"/>
              <a:t>Direction.north.move()</a:t>
            </a:r>
            <a:endParaRPr lang="en-US" altLang="en-US"/>
          </a:p>
          <a:p>
            <a:endParaRPr lang="en-US"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Structures in Swift</a:t>
            </a:r>
            <a:endParaRPr lang="en-US"/>
          </a:p>
        </p:txBody>
      </p:sp>
      <p:sp>
        <p:nvSpPr>
          <p:cNvPr id="3" name="Content Placeholder 2"/>
          <p:cNvSpPr>
            <a:spLocks noGrp="1"/>
          </p:cNvSpPr>
          <p:nvPr>
            <p:ph idx="1"/>
          </p:nvPr>
        </p:nvSpPr>
        <p:spPr/>
        <p:txBody>
          <a:bodyPr/>
          <a:p>
            <a:r>
              <a:rPr lang="en-US"/>
              <a:t>structures are used to construct building blocks of out programming code and we can extend functionlity of structures by defining different type of properties and methods.</a:t>
            </a:r>
            <a:endParaRPr lang="en-US"/>
          </a:p>
          <a:p>
            <a:r>
              <a:rPr lang="en-US"/>
              <a:t>Keyword :  struct</a:t>
            </a:r>
            <a:endParaRPr lang="en-US"/>
          </a:p>
          <a:p>
            <a:r>
              <a:rPr lang="en-US"/>
              <a:t>Structure can also define the constants , variables adn functions.</a:t>
            </a:r>
            <a:endParaRPr lang="en-US"/>
          </a:p>
          <a:p>
            <a:r>
              <a:rPr lang="en-US"/>
              <a:t>Structure is value type whereas Class is Reference type.</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t>Similarities between structure and classes</a:t>
            </a:r>
            <a:endParaRPr lang="en-US"/>
          </a:p>
        </p:txBody>
      </p:sp>
      <p:sp>
        <p:nvSpPr>
          <p:cNvPr id="3" name="Content Placeholder 2"/>
          <p:cNvSpPr>
            <a:spLocks noGrp="1"/>
          </p:cNvSpPr>
          <p:nvPr>
            <p:ph idx="1"/>
          </p:nvPr>
        </p:nvSpPr>
        <p:spPr/>
        <p:txBody>
          <a:bodyPr/>
          <a:p>
            <a:r>
              <a:rPr lang="en-US"/>
              <a:t>Defining properties to hold values</a:t>
            </a:r>
            <a:endParaRPr lang="en-US"/>
          </a:p>
          <a:p>
            <a:r>
              <a:rPr lang="en-US"/>
              <a:t>Defining methods to implement required functionlity</a:t>
            </a:r>
            <a:endParaRPr lang="en-US"/>
          </a:p>
          <a:p>
            <a:r>
              <a:rPr lang="en-US"/>
              <a:t>Defining intializaers</a:t>
            </a:r>
            <a:endParaRPr lang="en-US"/>
          </a:p>
          <a:p>
            <a:r>
              <a:rPr lang="en-US"/>
              <a:t>Defining type methods</a:t>
            </a:r>
            <a:endParaRPr lang="en-US"/>
          </a:p>
          <a:p>
            <a:r>
              <a:rPr lang="en-US"/>
              <a:t>Defining Subscripts, Protocols, Extensions</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Facts about Structure</a:t>
            </a:r>
            <a:endParaRPr lang="en-US"/>
          </a:p>
        </p:txBody>
      </p:sp>
      <p:sp>
        <p:nvSpPr>
          <p:cNvPr id="3" name="Content Placeholder 2"/>
          <p:cNvSpPr>
            <a:spLocks noGrp="1"/>
          </p:cNvSpPr>
          <p:nvPr>
            <p:ph idx="1"/>
          </p:nvPr>
        </p:nvSpPr>
        <p:spPr/>
        <p:txBody>
          <a:bodyPr/>
          <a:p>
            <a:r>
              <a:rPr lang="en-US"/>
              <a:t>In swift, stuctures are always copied when they are passed around in our code because when we assign same structure to multiple variables and if we modify one, only that value alone will change, not others because each new variable was a copy of the original , not a reference.</a:t>
            </a:r>
            <a:endParaRPr lang="en-US"/>
          </a:p>
          <a:p>
            <a:r>
              <a:rPr lang="en-US"/>
              <a:t>Unlike other programming languages we do not need to create any separate interface or implementation files for structures.</a:t>
            </a:r>
            <a:endParaRPr lang="en-US"/>
          </a:p>
          <a:p>
            <a:r>
              <a:rPr lang="en-US"/>
              <a:t>In swift when we create a structures in a single file automatically that class file will be available for other code blcoks to use that functionality in applications.</a:t>
            </a: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Syntax :  Structure in Swift</a:t>
            </a:r>
            <a:endParaRPr lang="en-US"/>
          </a:p>
        </p:txBody>
      </p:sp>
      <p:sp>
        <p:nvSpPr>
          <p:cNvPr id="3" name="Content Placeholder 2"/>
          <p:cNvSpPr>
            <a:spLocks noGrp="1"/>
          </p:cNvSpPr>
          <p:nvPr>
            <p:ph idx="1"/>
          </p:nvPr>
        </p:nvSpPr>
        <p:spPr/>
        <p:txBody>
          <a:bodyPr/>
          <a:p>
            <a:r>
              <a:rPr lang="en-US"/>
              <a:t>struct Structure_Name { </a:t>
            </a:r>
            <a:endParaRPr lang="en-US"/>
          </a:p>
          <a:p>
            <a:pPr lvl="1"/>
            <a:r>
              <a:rPr lang="en-US"/>
              <a:t>// Variables</a:t>
            </a:r>
            <a:endParaRPr lang="en-US"/>
          </a:p>
          <a:p>
            <a:pPr lvl="1"/>
            <a:r>
              <a:rPr lang="en-US"/>
              <a:t>// Methods</a:t>
            </a:r>
            <a:endParaRPr lang="en-US"/>
          </a:p>
          <a:p>
            <a:pPr lvl="1"/>
            <a:r>
              <a:rPr lang="en-US"/>
              <a:t>// Properties</a:t>
            </a:r>
            <a:endParaRPr lang="en-US"/>
          </a:p>
          <a:p>
            <a:pPr lvl="0"/>
            <a:r>
              <a:rPr lang="en-US"/>
              <a:t>}</a:t>
            </a:r>
            <a:endParaRPr lang="en-US"/>
          </a:p>
          <a:p>
            <a:pPr lvl="0"/>
            <a:r>
              <a:rPr lang="en-US"/>
              <a:t>//Instances of Structure</a:t>
            </a:r>
            <a:endParaRPr lang="en-US"/>
          </a:p>
          <a:p>
            <a:pPr lvl="0"/>
            <a:r>
              <a:rPr lang="en-US"/>
              <a:t>var/let object_name = structure_name()</a:t>
            </a: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Example : Structure in Swift</a:t>
            </a:r>
            <a:endParaRPr lang="en-US"/>
          </a:p>
        </p:txBody>
      </p:sp>
      <p:sp>
        <p:nvSpPr>
          <p:cNvPr id="3" name="Content Placeholder 2"/>
          <p:cNvSpPr>
            <a:spLocks noGrp="1"/>
          </p:cNvSpPr>
          <p:nvPr>
            <p:ph idx="1"/>
          </p:nvPr>
        </p:nvSpPr>
        <p:spPr>
          <a:xfrm>
            <a:off x="838200" y="1825625"/>
            <a:ext cx="10918825" cy="4859020"/>
          </a:xfrm>
        </p:spPr>
        <p:txBody>
          <a:bodyPr>
            <a:normAutofit fontScale="80000"/>
          </a:bodyPr>
          <a:p>
            <a:r>
              <a:rPr lang="en-US" altLang="en-US"/>
              <a:t>struct User {</a:t>
            </a:r>
            <a:endParaRPr lang="en-US" altLang="en-US"/>
          </a:p>
          <a:p>
            <a:r>
              <a:rPr lang="en-US" altLang="en-US"/>
              <a:t>    var name: String</a:t>
            </a:r>
            <a:endParaRPr lang="en-US" altLang="en-US"/>
          </a:p>
          <a:p>
            <a:r>
              <a:rPr lang="en-US" altLang="en-US"/>
              <a:t>    var age: Int</a:t>
            </a:r>
            <a:endParaRPr lang="en-US" altLang="en-US"/>
          </a:p>
          <a:p>
            <a:endParaRPr lang="en-US" altLang="en-US"/>
          </a:p>
          <a:p>
            <a:r>
              <a:rPr lang="en-US" altLang="en-US"/>
              <a:t>    func greet() {</a:t>
            </a:r>
            <a:endParaRPr lang="en-US" altLang="en-US"/>
          </a:p>
          <a:p>
            <a:r>
              <a:rPr lang="en-US" altLang="en-US"/>
              <a:t>        print("Hi, I'm \(name)")</a:t>
            </a:r>
            <a:endParaRPr lang="en-US" altLang="en-US"/>
          </a:p>
          <a:p>
            <a:r>
              <a:rPr lang="en-US" altLang="en-US"/>
              <a:t>    }</a:t>
            </a:r>
            <a:endParaRPr lang="en-US" altLang="en-US"/>
          </a:p>
          <a:p>
            <a:r>
              <a:rPr lang="en-US" altLang="en-US"/>
              <a:t>}</a:t>
            </a:r>
            <a:endParaRPr lang="en-US" altLang="en-US"/>
          </a:p>
          <a:p>
            <a:r>
              <a:rPr lang="en-US" altLang="en-US"/>
              <a:t>let user1 = User(name: "Ruta", age: 21)</a:t>
            </a:r>
            <a:endParaRPr lang="en-US" altLang="en-US"/>
          </a:p>
          <a:p>
            <a:r>
              <a:rPr lang="en-US" altLang="en-US"/>
              <a:t>print(user1.name)</a:t>
            </a:r>
            <a:endParaRPr lang="en-US" altLang="en-US"/>
          </a:p>
          <a:p>
            <a:r>
              <a:rPr lang="en-US" altLang="en-US"/>
              <a:t>print(user1.age)</a:t>
            </a:r>
            <a:endParaRPr lang="en-US" altLang="en-US"/>
          </a:p>
          <a:p>
            <a:endParaRPr lang="en-US"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t>Key Points about Structure  : Need to Remember - IMP</a:t>
            </a:r>
            <a:endParaRPr lang="en-US"/>
          </a:p>
        </p:txBody>
      </p:sp>
      <p:sp>
        <p:nvSpPr>
          <p:cNvPr id="3" name="Content Placeholder 2"/>
          <p:cNvSpPr>
            <a:spLocks noGrp="1"/>
          </p:cNvSpPr>
          <p:nvPr>
            <p:ph idx="1"/>
          </p:nvPr>
        </p:nvSpPr>
        <p:spPr/>
        <p:txBody>
          <a:bodyPr/>
          <a:p>
            <a:r>
              <a:rPr lang="en-US"/>
              <a:t>Structure are value type. hence when are are passing the value to variables the originaal value will remain same.</a:t>
            </a:r>
            <a:endParaRPr lang="en-US"/>
          </a:p>
          <a:p>
            <a:r>
              <a:rPr lang="en-US"/>
              <a:t>by using ‘.’, we can access all the named types which is declared in the Structure. (like Properties, methods...)</a:t>
            </a:r>
            <a:endParaRPr lang="en-US"/>
          </a:p>
          <a:p>
            <a:r>
              <a:rPr lang="en-US"/>
              <a:t>Structure are having default init() but we can also define the custom init() method.</a:t>
            </a:r>
            <a:endParaRPr lang="en-US"/>
          </a:p>
          <a:p>
            <a:r>
              <a:rPr lang="en-US"/>
              <a:t>At init() level, it is mendatory to intialized defined properties with values.</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31445"/>
            <a:ext cx="10515600" cy="596265"/>
          </a:xfrm>
        </p:spPr>
        <p:txBody>
          <a:bodyPr/>
          <a:p>
            <a:r>
              <a:rPr lang="en-US" sz="3200"/>
              <a:t>Difference Between Class and Structure - chatGPT</a:t>
            </a:r>
            <a:endParaRPr lang="en-US" sz="3200"/>
          </a:p>
        </p:txBody>
      </p:sp>
      <p:graphicFrame>
        <p:nvGraphicFramePr>
          <p:cNvPr id="4" name="Table 3"/>
          <p:cNvGraphicFramePr/>
          <p:nvPr/>
        </p:nvGraphicFramePr>
        <p:xfrm>
          <a:off x="853440" y="879475"/>
          <a:ext cx="10485120" cy="5769610"/>
        </p:xfrm>
        <a:graphic>
          <a:graphicData uri="http://schemas.openxmlformats.org/drawingml/2006/table">
            <a:tbl>
              <a:tblPr>
                <a:tableStyleId>{F5AB1C69-6EDB-4FF4-983F-18BD219EF322}</a:tableStyleId>
              </a:tblPr>
              <a:tblGrid>
                <a:gridCol w="3495040"/>
                <a:gridCol w="3495040"/>
                <a:gridCol w="3495040"/>
              </a:tblGrid>
              <a:tr h="524510">
                <a:tc>
                  <a:txBody>
                    <a:bodyPr/>
                    <a:p>
                      <a:pPr algn="ctr"/>
                      <a:r>
                        <a:rPr sz="1800" b="1" u="sng"/>
                        <a:t>Feature</a:t>
                      </a:r>
                      <a:endParaRPr sz="1800" b="1" u="sng"/>
                    </a:p>
                  </a:txBody>
                  <a:tcPr marL="0" marR="0" marT="0" marB="0" anchor="ctr" anchorCtr="0"/>
                </a:tc>
                <a:tc>
                  <a:txBody>
                    <a:bodyPr/>
                    <a:p>
                      <a:pPr algn="ctr"/>
                      <a:r>
                        <a:rPr sz="1800" b="1" u="sng"/>
                        <a:t>Structure (struct)</a:t>
                      </a:r>
                      <a:endParaRPr sz="1800" b="1" u="sng"/>
                    </a:p>
                  </a:txBody>
                  <a:tcPr marL="0" marR="0" marT="0" marB="0" anchor="ctr" anchorCtr="0"/>
                </a:tc>
                <a:tc>
                  <a:txBody>
                    <a:bodyPr/>
                    <a:p>
                      <a:pPr algn="ctr"/>
                      <a:r>
                        <a:rPr sz="1800" b="1" u="sng"/>
                        <a:t>Class</a:t>
                      </a:r>
                      <a:endParaRPr sz="1800" b="1" u="sng"/>
                    </a:p>
                  </a:txBody>
                  <a:tcPr marL="0" marR="0" marT="0" marB="0" anchor="ctr" anchorCtr="0"/>
                </a:tc>
              </a:tr>
              <a:tr h="524510">
                <a:tc>
                  <a:txBody>
                    <a:bodyPr/>
                    <a:p>
                      <a:pPr algn="ctr"/>
                      <a:r>
                        <a:rPr sz="1800"/>
                        <a:t>Type</a:t>
                      </a:r>
                      <a:endParaRPr sz="1800"/>
                    </a:p>
                  </a:txBody>
                  <a:tcPr marL="0" marR="0" marT="0" marB="0" anchor="ctr" anchorCtr="0"/>
                </a:tc>
                <a:tc>
                  <a:txBody>
                    <a:bodyPr/>
                    <a:p>
                      <a:pPr algn="ctr"/>
                      <a:r>
                        <a:rPr sz="1800"/>
                        <a:t>Value type 📋</a:t>
                      </a:r>
                      <a:endParaRPr sz="1800"/>
                    </a:p>
                  </a:txBody>
                  <a:tcPr marL="0" marR="0" marT="0" marB="0" anchor="ctr" anchorCtr="0"/>
                </a:tc>
                <a:tc>
                  <a:txBody>
                    <a:bodyPr/>
                    <a:p>
                      <a:pPr algn="ctr"/>
                      <a:r>
                        <a:rPr sz="1800"/>
                        <a:t>Reference type 🔗</a:t>
                      </a:r>
                      <a:endParaRPr sz="1800"/>
                    </a:p>
                  </a:txBody>
                  <a:tcPr marL="0" marR="0" marT="0" marB="0" anchor="ctr" anchorCtr="0"/>
                </a:tc>
              </a:tr>
              <a:tr h="524510">
                <a:tc>
                  <a:txBody>
                    <a:bodyPr/>
                    <a:p>
                      <a:pPr algn="ctr"/>
                      <a:r>
                        <a:rPr sz="1800"/>
                        <a:t>Memory behavior</a:t>
                      </a:r>
                      <a:endParaRPr sz="1800"/>
                    </a:p>
                  </a:txBody>
                  <a:tcPr marL="0" marR="0" marT="0" marB="0" anchor="ctr" anchorCtr="0"/>
                </a:tc>
                <a:tc>
                  <a:txBody>
                    <a:bodyPr/>
                    <a:p>
                      <a:pPr algn="ctr"/>
                      <a:r>
                        <a:rPr sz="1800"/>
                        <a:t>Copies data</a:t>
                      </a:r>
                      <a:endParaRPr sz="1800"/>
                    </a:p>
                  </a:txBody>
                  <a:tcPr marL="0" marR="0" marT="0" marB="0" anchor="ctr" anchorCtr="0"/>
                </a:tc>
                <a:tc>
                  <a:txBody>
                    <a:bodyPr/>
                    <a:p>
                      <a:pPr algn="ctr"/>
                      <a:r>
                        <a:rPr sz="1800"/>
                        <a:t>Shares same object</a:t>
                      </a:r>
                      <a:endParaRPr sz="1800"/>
                    </a:p>
                  </a:txBody>
                  <a:tcPr marL="0" marR="0" marT="0" marB="0" anchor="ctr" anchorCtr="0"/>
                </a:tc>
              </a:tr>
              <a:tr h="524510">
                <a:tc>
                  <a:txBody>
                    <a:bodyPr/>
                    <a:p>
                      <a:pPr algn="ctr"/>
                      <a:r>
                        <a:rPr sz="1800"/>
                        <a:t>Speed</a:t>
                      </a:r>
                      <a:endParaRPr sz="1800"/>
                    </a:p>
                  </a:txBody>
                  <a:tcPr marL="0" marR="0" marT="0" marB="0" anchor="ctr" anchorCtr="0"/>
                </a:tc>
                <a:tc>
                  <a:txBody>
                    <a:bodyPr/>
                    <a:p>
                      <a:pPr algn="ctr"/>
                      <a:r>
                        <a:rPr sz="1800"/>
                        <a:t>Faster ⚡</a:t>
                      </a:r>
                      <a:endParaRPr sz="1800"/>
                    </a:p>
                  </a:txBody>
                  <a:tcPr marL="0" marR="0" marT="0" marB="0" anchor="ctr" anchorCtr="0"/>
                </a:tc>
                <a:tc>
                  <a:txBody>
                    <a:bodyPr/>
                    <a:p>
                      <a:pPr algn="ctr"/>
                      <a:r>
                        <a:rPr sz="1800"/>
                        <a:t>Slightly slower</a:t>
                      </a:r>
                      <a:endParaRPr sz="1800"/>
                    </a:p>
                  </a:txBody>
                  <a:tcPr marL="0" marR="0" marT="0" marB="0" anchor="ctr" anchorCtr="0"/>
                </a:tc>
              </a:tr>
              <a:tr h="524510">
                <a:tc>
                  <a:txBody>
                    <a:bodyPr/>
                    <a:p>
                      <a:pPr algn="ctr"/>
                      <a:r>
                        <a:rPr sz="1800"/>
                        <a:t>Inheritance</a:t>
                      </a:r>
                      <a:endParaRPr sz="1800"/>
                    </a:p>
                  </a:txBody>
                  <a:tcPr marL="0" marR="0" marT="0" marB="0" anchor="ctr" anchorCtr="0"/>
                </a:tc>
                <a:tc>
                  <a:txBody>
                    <a:bodyPr/>
                    <a:p>
                      <a:pPr algn="ctr"/>
                      <a:r>
                        <a:rPr sz="1800"/>
                        <a:t>❌ Not allowed</a:t>
                      </a:r>
                      <a:endParaRPr sz="1800"/>
                    </a:p>
                  </a:txBody>
                  <a:tcPr marL="0" marR="0" marT="0" marB="0" anchor="ctr" anchorCtr="0"/>
                </a:tc>
                <a:tc>
                  <a:txBody>
                    <a:bodyPr/>
                    <a:p>
                      <a:pPr algn="ctr"/>
                      <a:r>
                        <a:rPr sz="1800"/>
                        <a:t>✅ Allowed</a:t>
                      </a:r>
                      <a:endParaRPr sz="1800"/>
                    </a:p>
                  </a:txBody>
                  <a:tcPr marL="0" marR="0" marT="0" marB="0" anchor="ctr" anchorCtr="0"/>
                </a:tc>
              </a:tr>
              <a:tr h="524510">
                <a:tc>
                  <a:txBody>
                    <a:bodyPr/>
                    <a:p>
                      <a:pPr algn="ctr"/>
                      <a:r>
                        <a:rPr sz="1800"/>
                        <a:t>Multiple objects</a:t>
                      </a:r>
                      <a:endParaRPr sz="1800"/>
                    </a:p>
                  </a:txBody>
                  <a:tcPr marL="0" marR="0" marT="0" marB="0" anchor="ctr" anchorCtr="0"/>
                </a:tc>
                <a:tc>
                  <a:txBody>
                    <a:bodyPr/>
                    <a:p>
                      <a:pPr algn="ctr"/>
                      <a:r>
                        <a:rPr sz="1800"/>
                        <a:t>Independent copies</a:t>
                      </a:r>
                      <a:endParaRPr sz="1800"/>
                    </a:p>
                  </a:txBody>
                  <a:tcPr marL="0" marR="0" marT="0" marB="0" anchor="ctr" anchorCtr="0"/>
                </a:tc>
                <a:tc>
                  <a:txBody>
                    <a:bodyPr/>
                    <a:p>
                      <a:pPr algn="ctr"/>
                      <a:r>
                        <a:rPr sz="1800"/>
                        <a:t>Same reference</a:t>
                      </a:r>
                      <a:endParaRPr sz="1800"/>
                    </a:p>
                  </a:txBody>
                  <a:tcPr marL="0" marR="0" marT="0" marB="0" anchor="ctr" anchorCtr="0"/>
                </a:tc>
              </a:tr>
              <a:tr h="524510">
                <a:tc>
                  <a:txBody>
                    <a:bodyPr/>
                    <a:p>
                      <a:pPr algn="ctr"/>
                      <a:r>
                        <a:rPr sz="1800"/>
                        <a:t>let behavior</a:t>
                      </a:r>
                      <a:endParaRPr sz="1800"/>
                    </a:p>
                  </a:txBody>
                  <a:tcPr marL="0" marR="0" marT="0" marB="0" anchor="ctr" anchorCtr="0"/>
                </a:tc>
                <a:tc>
                  <a:txBody>
                    <a:bodyPr/>
                    <a:p>
                      <a:pPr algn="ctr"/>
                      <a:r>
                        <a:rPr sz="1800"/>
                        <a:t>Fully immutable</a:t>
                      </a:r>
                      <a:endParaRPr sz="1800"/>
                    </a:p>
                  </a:txBody>
                  <a:tcPr marL="0" marR="0" marT="0" marB="0" anchor="ctr" anchorCtr="0"/>
                </a:tc>
                <a:tc>
                  <a:txBody>
                    <a:bodyPr/>
                    <a:p>
                      <a:pPr algn="ctr"/>
                      <a:r>
                        <a:rPr sz="1800"/>
                        <a:t>Only reference fixed</a:t>
                      </a:r>
                      <a:endParaRPr sz="1800"/>
                    </a:p>
                  </a:txBody>
                  <a:tcPr marL="0" marR="0" marT="0" marB="0" anchor="ctr" anchorCtr="0"/>
                </a:tc>
              </a:tr>
              <a:tr h="524510">
                <a:tc>
                  <a:txBody>
                    <a:bodyPr/>
                    <a:p>
                      <a:pPr algn="ctr"/>
                      <a:r>
                        <a:rPr sz="1800"/>
                        <a:t>Deinitializer (deinit)</a:t>
                      </a:r>
                      <a:endParaRPr sz="1800"/>
                    </a:p>
                  </a:txBody>
                  <a:tcPr marL="0" marR="0" marT="0" marB="0" anchor="ctr" anchorCtr="0"/>
                </a:tc>
                <a:tc>
                  <a:txBody>
                    <a:bodyPr/>
                    <a:p>
                      <a:pPr algn="ctr"/>
                      <a:r>
                        <a:rPr sz="1800"/>
                        <a:t>❌ No</a:t>
                      </a:r>
                      <a:endParaRPr sz="1800"/>
                    </a:p>
                  </a:txBody>
                  <a:tcPr marL="0" marR="0" marT="0" marB="0" anchor="ctr" anchorCtr="0"/>
                </a:tc>
                <a:tc>
                  <a:txBody>
                    <a:bodyPr/>
                    <a:p>
                      <a:pPr algn="ctr"/>
                      <a:r>
                        <a:rPr sz="1800"/>
                        <a:t>✅ Yes</a:t>
                      </a:r>
                      <a:endParaRPr sz="1800"/>
                    </a:p>
                  </a:txBody>
                  <a:tcPr marL="0" marR="0" marT="0" marB="0" anchor="ctr" anchorCtr="0"/>
                </a:tc>
              </a:tr>
              <a:tr h="524510">
                <a:tc>
                  <a:txBody>
                    <a:bodyPr/>
                    <a:p>
                      <a:pPr algn="ctr"/>
                      <a:r>
                        <a:rPr sz="1800"/>
                        <a:t>ARC (memory mgmt)</a:t>
                      </a:r>
                      <a:endParaRPr sz="1800"/>
                    </a:p>
                  </a:txBody>
                  <a:tcPr marL="0" marR="0" marT="0" marB="0" anchor="ctr" anchorCtr="0"/>
                </a:tc>
                <a:tc>
                  <a:txBody>
                    <a:bodyPr/>
                    <a:p>
                      <a:pPr algn="ctr"/>
                      <a:r>
                        <a:rPr sz="1800"/>
                        <a:t>❌ No</a:t>
                      </a:r>
                      <a:endParaRPr sz="1800"/>
                    </a:p>
                  </a:txBody>
                  <a:tcPr marL="0" marR="0" marT="0" marB="0" anchor="ctr" anchorCtr="0"/>
                </a:tc>
                <a:tc>
                  <a:txBody>
                    <a:bodyPr/>
                    <a:p>
                      <a:pPr algn="ctr"/>
                      <a:r>
                        <a:rPr sz="1800"/>
                        <a:t>✅ Yes</a:t>
                      </a:r>
                      <a:endParaRPr sz="1800"/>
                    </a:p>
                  </a:txBody>
                  <a:tcPr marL="0" marR="0" marT="0" marB="0" anchor="ctr" anchorCtr="0"/>
                </a:tc>
              </a:tr>
              <a:tr h="524510">
                <a:tc>
                  <a:txBody>
                    <a:bodyPr/>
                    <a:p>
                      <a:pPr algn="ctr"/>
                      <a:r>
                        <a:rPr sz="1800"/>
                        <a:t>Mutating methods needed</a:t>
                      </a:r>
                      <a:endParaRPr sz="1800"/>
                    </a:p>
                  </a:txBody>
                  <a:tcPr marL="0" marR="0" marT="0" marB="0" anchor="ctr" anchorCtr="0"/>
                </a:tc>
                <a:tc>
                  <a:txBody>
                    <a:bodyPr/>
                    <a:p>
                      <a:pPr algn="ctr"/>
                      <a:r>
                        <a:rPr sz="1800"/>
                        <a:t>✅ Yes</a:t>
                      </a:r>
                      <a:endParaRPr sz="1800"/>
                    </a:p>
                  </a:txBody>
                  <a:tcPr marL="0" marR="0" marT="0" marB="0" anchor="ctr" anchorCtr="0"/>
                </a:tc>
                <a:tc>
                  <a:txBody>
                    <a:bodyPr/>
                    <a:p>
                      <a:pPr algn="ctr"/>
                      <a:r>
                        <a:rPr sz="1800"/>
                        <a:t>❌ No</a:t>
                      </a:r>
                      <a:endParaRPr sz="1800"/>
                    </a:p>
                  </a:txBody>
                  <a:tcPr marL="0" marR="0" marT="0" marB="0" anchor="ctr" anchorCtr="0"/>
                </a:tc>
              </a:tr>
              <a:tr h="524510">
                <a:tc>
                  <a:txBody>
                    <a:bodyPr/>
                    <a:p>
                      <a:pPr algn="ctr"/>
                      <a:r>
                        <a:rPr sz="1800"/>
                        <a:t>Best for</a:t>
                      </a:r>
                      <a:endParaRPr sz="1800"/>
                    </a:p>
                  </a:txBody>
                  <a:tcPr marL="0" marR="0" marT="0" marB="0" anchor="ctr" anchorCtr="0"/>
                </a:tc>
                <a:tc>
                  <a:txBody>
                    <a:bodyPr/>
                    <a:p>
                      <a:pPr algn="ctr"/>
                      <a:r>
                        <a:rPr sz="1800"/>
                        <a:t>Simple data</a:t>
                      </a:r>
                      <a:endParaRPr sz="1800"/>
                    </a:p>
                  </a:txBody>
                  <a:tcPr marL="0" marR="0" marT="0" marB="0" anchor="ctr" anchorCtr="0"/>
                </a:tc>
                <a:tc>
                  <a:txBody>
                    <a:bodyPr/>
                    <a:p>
                      <a:pPr algn="ctr"/>
                      <a:r>
                        <a:rPr sz="1800"/>
                        <a:t>Complex logic</a:t>
                      </a:r>
                      <a:endParaRPr sz="1800"/>
                    </a:p>
                  </a:txBody>
                  <a:tcPr marL="0" marR="0" marT="0" marB="0" anchor="ctr" anchorCtr="0"/>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When to Use Classes and Structure ?</a:t>
            </a:r>
            <a:endParaRPr lang="en-US"/>
          </a:p>
        </p:txBody>
      </p:sp>
      <p:pic>
        <p:nvPicPr>
          <p:cNvPr id="4" name="Picture 3" descr="Screenshot 2026-02-12 at 4.18.03 PM"/>
          <p:cNvPicPr>
            <a:picLocks noChangeAspect="1"/>
          </p:cNvPicPr>
          <p:nvPr/>
        </p:nvPicPr>
        <p:blipFill>
          <a:blip r:embed="rId1"/>
          <a:stretch>
            <a:fillRect/>
          </a:stretch>
        </p:blipFill>
        <p:spPr>
          <a:xfrm>
            <a:off x="838200" y="1825625"/>
            <a:ext cx="10426700" cy="33655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Thank you</a:t>
            </a:r>
            <a:endParaRPr lang="en-US"/>
          </a:p>
        </p:txBody>
      </p:sp>
      <p:sp>
        <p:nvSpPr>
          <p:cNvPr id="5" name="Text Placeholder 4"/>
          <p:cNvSpPr>
            <a:spLocks noGrp="1"/>
          </p:cNvSpPr>
          <p:nvPr>
            <p:ph type="body" idx="1"/>
          </p:nvPr>
        </p:nvSpPr>
        <p:spPr/>
        <p:txBody>
          <a:bodyPr/>
          <a:p>
            <a:r>
              <a:rPr lang="en-US"/>
              <a:t>Vraj Suratwala, Department of ICT, VNSGU</a:t>
            </a:r>
            <a:endParaRPr lang="en-US"/>
          </a:p>
          <a:p>
            <a:r>
              <a:rPr lang="en-US"/>
              <a:t>Module_2 will cover remaining topics....</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12229</Words>
  <Application>WPS Presentation</Application>
  <PresentationFormat>Widescreen</PresentationFormat>
  <Paragraphs>549</Paragraphs>
  <Slides>48</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48</vt:i4>
      </vt:variant>
    </vt:vector>
  </HeadingPairs>
  <TitlesOfParts>
    <vt:vector size="62" baseType="lpstr">
      <vt:lpstr>Arial</vt:lpstr>
      <vt:lpstr>SimSun</vt:lpstr>
      <vt:lpstr>Wingdings</vt:lpstr>
      <vt:lpstr>Arial Unicode MS</vt:lpstr>
      <vt:lpstr>Calibri Light</vt:lpstr>
      <vt:lpstr>Helvetica Neue</vt:lpstr>
      <vt:lpstr>Calibri</vt:lpstr>
      <vt:lpstr>Microsoft YaHei</vt:lpstr>
      <vt:lpstr>汉仪旗黑</vt:lpstr>
      <vt:lpstr>宋体-简</vt:lpstr>
      <vt:lpstr>menlo</vt:lpstr>
      <vt:lpstr>Apple Color Emoji</vt:lpstr>
      <vt:lpstr>SimSun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suratwalavraj</dc:creator>
  <cp:lastModifiedBy>suratwalavraj</cp:lastModifiedBy>
  <cp:revision>45</cp:revision>
  <dcterms:created xsi:type="dcterms:W3CDTF">2026-02-12T10:49:15Z</dcterms:created>
  <dcterms:modified xsi:type="dcterms:W3CDTF">2026-02-12T10:49:15Z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A6FD31394DB5555179D28C69735A7E6E_41</vt:lpwstr>
  </property>
  <property fmtid="{D5CDD505-2E9C-101B-9397-08002B2CF9AE}" pid="3" name="KSOProductBuildVer">
    <vt:lpwstr>1033-12.1.23155.23155</vt:lpwstr>
  </property>
</Properties>
</file>