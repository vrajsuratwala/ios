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7" r:id="rId5"/>
    <p:sldId id="259" r:id="rId6"/>
    <p:sldId id="260" r:id="rId7"/>
    <p:sldId id="261" r:id="rId8"/>
    <p:sldId id="262" r:id="rId9"/>
    <p:sldId id="263" r:id="rId10"/>
    <p:sldId id="264"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alooba.com/skills/concepts/ios-auto-layout-426/constraint-basics/?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Auto Layout </a:t>
            </a:r>
            <a:endParaRPr lang="en-US"/>
          </a:p>
        </p:txBody>
      </p:sp>
      <p:sp>
        <p:nvSpPr>
          <p:cNvPr id="3" name="Subtitle 2"/>
          <p:cNvSpPr>
            <a:spLocks noGrp="1"/>
          </p:cNvSpPr>
          <p:nvPr>
            <p:ph type="subTitle" idx="1"/>
          </p:nvPr>
        </p:nvSpPr>
        <p:spPr/>
        <p:txBody>
          <a:bodyPr/>
          <a:p>
            <a:r>
              <a:rPr lang="en-US"/>
              <a:t>constaints to create Adaptive UI</a:t>
            </a:r>
            <a:endParaRPr lang="en-US"/>
          </a:p>
          <a:p>
            <a:r>
              <a:rPr lang="en-US"/>
              <a:t>Vraj Suratwala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Auto Layout</a:t>
            </a:r>
            <a:endParaRPr lang="en-US"/>
          </a:p>
        </p:txBody>
      </p:sp>
      <p:sp>
        <p:nvSpPr>
          <p:cNvPr id="3" name="Content Placeholder 2"/>
          <p:cNvSpPr>
            <a:spLocks noGrp="1"/>
          </p:cNvSpPr>
          <p:nvPr>
            <p:ph idx="1"/>
          </p:nvPr>
        </p:nvSpPr>
        <p:spPr/>
        <p:txBody>
          <a:bodyPr/>
          <a:p>
            <a:r>
              <a:rPr lang="en-US" altLang="en-US"/>
              <a:t>Auto Layout is Apple’s constraint-based layout system that describes relationships between views instead of fixed frames. The system then solves those relationships to figure out the final position and size of each element, letting your UI automatically adapt to:</a:t>
            </a:r>
            <a:endParaRPr lang="en-US" altLang="en-US"/>
          </a:p>
          <a:p>
            <a:r>
              <a:rPr lang="en-US" altLang="en-US"/>
              <a:t>different screens (iPhones, iPads)</a:t>
            </a:r>
            <a:endParaRPr lang="en-US" altLang="en-US"/>
          </a:p>
          <a:p>
            <a:r>
              <a:rPr lang="en-US" altLang="en-US"/>
              <a:t>device orientations (portrait/landscape)</a:t>
            </a:r>
            <a:endParaRPr lang="en-US" altLang="en-US"/>
          </a:p>
          <a:p>
            <a:r>
              <a:rPr lang="en-US" altLang="en-US"/>
              <a:t>dynamic sizes (text size changes)</a:t>
            </a:r>
            <a:endParaRPr lang="en-US" altLang="en-US"/>
          </a:p>
          <a:p>
            <a:r>
              <a:rPr lang="en-US" altLang="en-US"/>
              <a:t>split-screen multitasking on iPad</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Why this matter ?</a:t>
            </a:r>
            <a:endParaRPr lang="en-US"/>
          </a:p>
        </p:txBody>
      </p:sp>
      <p:sp>
        <p:nvSpPr>
          <p:cNvPr id="3" name="Content Placeholder 2"/>
          <p:cNvSpPr>
            <a:spLocks noGrp="1"/>
          </p:cNvSpPr>
          <p:nvPr>
            <p:ph idx="1"/>
          </p:nvPr>
        </p:nvSpPr>
        <p:spPr/>
        <p:txBody>
          <a:bodyPr/>
          <a:p>
            <a:r>
              <a:rPr lang="en-US" altLang="en-US"/>
              <a:t>Without Auto Layout, layouts get messy fast — things break on smaller screens or when text sizes change. Even simple UI like a centered button needs two constraints:</a:t>
            </a:r>
            <a:endParaRPr lang="en-US" altLang="en-US"/>
          </a:p>
          <a:p>
            <a:r>
              <a:rPr lang="en-US" altLang="en-US"/>
              <a:t>Center horizontally</a:t>
            </a:r>
            <a:endParaRPr lang="en-US" altLang="en-US"/>
          </a:p>
          <a:p>
            <a:r>
              <a:rPr lang="en-US" altLang="en-US"/>
              <a:t>Center vertically</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are Constraints ?</a:t>
            </a:r>
            <a:endParaRPr lang="en-US"/>
          </a:p>
        </p:txBody>
      </p:sp>
      <p:sp>
        <p:nvSpPr>
          <p:cNvPr id="3" name="Content Placeholder 2"/>
          <p:cNvSpPr>
            <a:spLocks noGrp="1"/>
          </p:cNvSpPr>
          <p:nvPr>
            <p:ph idx="1"/>
          </p:nvPr>
        </p:nvSpPr>
        <p:spPr/>
        <p:txBody>
          <a:bodyPr/>
          <a:p>
            <a:r>
              <a:rPr lang="en-US" altLang="en-US"/>
              <a:t>Constraints are rules that define how a view relates in position and size to:</a:t>
            </a:r>
            <a:endParaRPr lang="en-US" altLang="en-US"/>
          </a:p>
          <a:p>
            <a:r>
              <a:rPr lang="en-US" altLang="en-US"/>
              <a:t>another view</a:t>
            </a:r>
            <a:endParaRPr lang="en-US" altLang="en-US"/>
          </a:p>
          <a:p>
            <a:r>
              <a:rPr lang="en-US" altLang="en-US"/>
              <a:t>its container (superview)</a:t>
            </a:r>
            <a:endParaRPr lang="en-US" altLang="en-US"/>
          </a:p>
          <a:p>
            <a:r>
              <a:rPr lang="en-US" altLang="en-US"/>
              <a:t>a constant value</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Common types of constraints</a:t>
            </a:r>
            <a:endParaRPr lang="en-US"/>
          </a:p>
        </p:txBody>
      </p:sp>
      <p:graphicFrame>
        <p:nvGraphicFramePr>
          <p:cNvPr id="4" name="Table 3"/>
          <p:cNvGraphicFramePr/>
          <p:nvPr/>
        </p:nvGraphicFramePr>
        <p:xfrm>
          <a:off x="853440" y="1825625"/>
          <a:ext cx="10485120" cy="4312285"/>
        </p:xfrm>
        <a:graphic>
          <a:graphicData uri="http://schemas.openxmlformats.org/drawingml/2006/table">
            <a:tbl>
              <a:tblPr>
                <a:tableStyleId>{00A15C55-8517-42AA-B614-E9B94910E393}</a:tableStyleId>
              </a:tblPr>
              <a:tblGrid>
                <a:gridCol w="5242560"/>
                <a:gridCol w="5242560"/>
              </a:tblGrid>
              <a:tr h="527685">
                <a:tc>
                  <a:txBody>
                    <a:bodyPr/>
                    <a:p>
                      <a:pPr algn="ctr"/>
                      <a:r>
                        <a:rPr sz="2000" b="1"/>
                        <a:t>Constraint Type</a:t>
                      </a:r>
                      <a:endParaRPr sz="2000" b="1"/>
                    </a:p>
                  </a:txBody>
                  <a:tcPr marL="0" marR="0" marT="0" marB="0" anchor="ctr" anchorCtr="0"/>
                </a:tc>
                <a:tc>
                  <a:txBody>
                    <a:bodyPr/>
                    <a:p>
                      <a:pPr algn="ctr"/>
                      <a:r>
                        <a:rPr sz="2000" b="1"/>
                        <a:t>What it controls</a:t>
                      </a:r>
                      <a:endParaRPr sz="2000" b="1"/>
                    </a:p>
                  </a:txBody>
                  <a:tcPr marL="0" marR="0" marT="0" marB="0" anchor="ctr" anchorCtr="0"/>
                </a:tc>
              </a:tr>
              <a:tr h="526415">
                <a:tc>
                  <a:txBody>
                    <a:bodyPr/>
                    <a:p>
                      <a:pPr algn="ctr"/>
                      <a:r>
                        <a:rPr sz="2000"/>
                        <a:t>Leading / Trailing</a:t>
                      </a:r>
                      <a:endParaRPr sz="2000"/>
                    </a:p>
                  </a:txBody>
                  <a:tcPr marL="0" marR="0" marT="0" marB="0" anchor="ctr" anchorCtr="0"/>
                </a:tc>
                <a:tc>
                  <a:txBody>
                    <a:bodyPr/>
                    <a:p>
                      <a:pPr algn="ctr"/>
                      <a:r>
                        <a:rPr sz="2000"/>
                        <a:t>Horizontal alignment</a:t>
                      </a:r>
                      <a:endParaRPr sz="2000"/>
                    </a:p>
                  </a:txBody>
                  <a:tcPr marL="0" marR="0" marT="0" marB="0" anchor="ctr" anchorCtr="0"/>
                </a:tc>
              </a:tr>
              <a:tr h="527050">
                <a:tc>
                  <a:txBody>
                    <a:bodyPr/>
                    <a:p>
                      <a:pPr algn="ctr"/>
                      <a:r>
                        <a:rPr sz="2000"/>
                        <a:t>Top / Bottom</a:t>
                      </a:r>
                      <a:endParaRPr sz="2000"/>
                    </a:p>
                  </a:txBody>
                  <a:tcPr marL="0" marR="0" marT="0" marB="0" anchor="ctr" anchorCtr="0"/>
                </a:tc>
                <a:tc>
                  <a:txBody>
                    <a:bodyPr/>
                    <a:p>
                      <a:pPr algn="ctr"/>
                      <a:r>
                        <a:rPr sz="2000"/>
                        <a:t>Vertical placement</a:t>
                      </a:r>
                      <a:endParaRPr sz="2000"/>
                    </a:p>
                  </a:txBody>
                  <a:tcPr marL="0" marR="0" marT="0" marB="0" anchor="ctr" anchorCtr="0"/>
                </a:tc>
              </a:tr>
              <a:tr h="526415">
                <a:tc>
                  <a:txBody>
                    <a:bodyPr/>
                    <a:p>
                      <a:pPr algn="ctr"/>
                      <a:r>
                        <a:rPr sz="2000"/>
                        <a:t>Width / Height</a:t>
                      </a:r>
                      <a:endParaRPr sz="2000"/>
                    </a:p>
                  </a:txBody>
                  <a:tcPr marL="0" marR="0" marT="0" marB="0" anchor="ctr" anchorCtr="0"/>
                </a:tc>
                <a:tc>
                  <a:txBody>
                    <a:bodyPr/>
                    <a:p>
                      <a:pPr algn="ctr"/>
                      <a:r>
                        <a:rPr sz="2000"/>
                        <a:t>Size</a:t>
                      </a:r>
                      <a:endParaRPr sz="2000"/>
                    </a:p>
                  </a:txBody>
                  <a:tcPr marL="0" marR="0" marT="0" marB="0" anchor="ctr" anchorCtr="0"/>
                </a:tc>
              </a:tr>
              <a:tr h="527685">
                <a:tc>
                  <a:txBody>
                    <a:bodyPr/>
                    <a:p>
                      <a:pPr algn="ctr"/>
                      <a:r>
                        <a:rPr sz="2000"/>
                        <a:t>CenterX / CenterY</a:t>
                      </a:r>
                      <a:endParaRPr sz="2000"/>
                    </a:p>
                  </a:txBody>
                  <a:tcPr marL="0" marR="0" marT="0" marB="0" anchor="ctr" anchorCtr="0"/>
                </a:tc>
                <a:tc>
                  <a:txBody>
                    <a:bodyPr/>
                    <a:p>
                      <a:pPr algn="ctr"/>
                      <a:r>
                        <a:rPr sz="2000"/>
                        <a:t>Position</a:t>
                      </a:r>
                      <a:endParaRPr sz="2000"/>
                    </a:p>
                  </a:txBody>
                  <a:tcPr marL="0" marR="0" marT="0" marB="0" anchor="ctr" anchorCtr="0"/>
                </a:tc>
              </a:tr>
              <a:tr h="527685">
                <a:tc>
                  <a:txBody>
                    <a:bodyPr/>
                    <a:p>
                      <a:pPr algn="ctr"/>
                      <a:r>
                        <a:rPr sz="2000"/>
                        <a:t>Aspect Ratio</a:t>
                      </a:r>
                      <a:endParaRPr sz="2000"/>
                    </a:p>
                  </a:txBody>
                  <a:tcPr marL="0" marR="0" marT="0" marB="0" anchor="ctr" anchorCtr="0"/>
                </a:tc>
                <a:tc>
                  <a:txBody>
                    <a:bodyPr/>
                    <a:p>
                      <a:pPr algn="ctr"/>
                      <a:r>
                        <a:rPr sz="2000"/>
                        <a:t>Shape ratio</a:t>
                      </a:r>
                      <a:endParaRPr sz="2000"/>
                    </a:p>
                  </a:txBody>
                  <a:tcPr marL="0" marR="0" marT="0" marB="0" anchor="ctr" anchorCtr="0"/>
                </a:tc>
              </a:tr>
              <a:tr h="1149350">
                <a:tc>
                  <a:txBody>
                    <a:bodyPr/>
                    <a:p>
                      <a:pPr algn="ctr"/>
                      <a:r>
                        <a:rPr sz="2000"/>
                        <a:t>✔ They help maintain UI consistency across screens. (</a:t>
                      </a:r>
                      <a:r>
                        <a:rPr sz="2000">
                          <a:hlinkClick r:id="rId1" tooltip="Understanding Constraint Basics in iOS Auto Layout"/>
                        </a:rPr>
                        <a:t>alooba.com</a:t>
                      </a:r>
                      <a:r>
                        <a:rPr sz="2000"/>
                        <a:t>)</a:t>
                      </a:r>
                      <a:endParaRPr sz="2000">
                        <a:hlinkClick r:id="rId1" tooltip="Understanding Constraint Basics in iOS Auto Layout"/>
                      </a:endParaRPr>
                    </a:p>
                  </a:txBody>
                  <a:tcPr marL="0" marR="0" marT="0" marB="0" anchor="ctr" anchorCtr="0"/>
                </a:tc>
                <a:tc>
                  <a:txBody>
                    <a:bodyPr/>
                    <a:p>
                      <a:pPr algn="ctr">
                        <a:buNone/>
                      </a:pPr>
                      <a:endParaRPr lang="en-US" sz="360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Auto-layout constraints </a:t>
            </a:r>
            <a:endParaRPr lang="en-US"/>
          </a:p>
        </p:txBody>
      </p:sp>
      <p:sp>
        <p:nvSpPr>
          <p:cNvPr id="3" name="Content Placeholder 2"/>
          <p:cNvSpPr>
            <a:spLocks noGrp="1"/>
          </p:cNvSpPr>
          <p:nvPr>
            <p:ph idx="1"/>
          </p:nvPr>
        </p:nvSpPr>
        <p:spPr/>
        <p:txBody>
          <a:bodyPr/>
          <a:p>
            <a:r>
              <a:rPr lang="en-US"/>
              <a:t>XCode provides two ways to define auto layout constraints</a:t>
            </a:r>
            <a:endParaRPr lang="en-US"/>
          </a:p>
          <a:p>
            <a:r>
              <a:rPr lang="en-US"/>
              <a:t>1. Auto Layout Bar</a:t>
            </a:r>
            <a:endParaRPr lang="en-US"/>
          </a:p>
          <a:p>
            <a:r>
              <a:rPr lang="en-US"/>
              <a:t>2. Control - Drag</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Auto Layout bar</a:t>
            </a:r>
            <a:endParaRPr lang="en-US"/>
          </a:p>
        </p:txBody>
      </p:sp>
      <p:sp>
        <p:nvSpPr>
          <p:cNvPr id="3" name="Content Placeholder 2"/>
          <p:cNvSpPr>
            <a:spLocks noGrp="1"/>
          </p:cNvSpPr>
          <p:nvPr>
            <p:ph idx="1"/>
          </p:nvPr>
        </p:nvSpPr>
        <p:spPr/>
        <p:txBody>
          <a:bodyPr/>
          <a:p>
            <a:r>
              <a:rPr lang="en-US"/>
              <a:t>At bottom-right we can find these kind of buttons.each button is having it’s own functionlity</a:t>
            </a:r>
            <a:endParaRPr lang="en-US"/>
          </a:p>
        </p:txBody>
      </p:sp>
      <p:pic>
        <p:nvPicPr>
          <p:cNvPr id="4" name="Picture 3" descr="Screenshot 2026-02-12 at 8.48.44 PM"/>
          <p:cNvPicPr>
            <a:picLocks noChangeAspect="1"/>
          </p:cNvPicPr>
          <p:nvPr/>
        </p:nvPicPr>
        <p:blipFill>
          <a:blip r:embed="rId1"/>
          <a:srcRect l="23993"/>
          <a:stretch>
            <a:fillRect/>
          </a:stretch>
        </p:blipFill>
        <p:spPr>
          <a:xfrm>
            <a:off x="4226560" y="2839720"/>
            <a:ext cx="4839970" cy="1177925"/>
          </a:xfrm>
          <a:prstGeom prst="rect">
            <a:avLst/>
          </a:prstGeom>
        </p:spPr>
      </p:pic>
      <p:cxnSp>
        <p:nvCxnSpPr>
          <p:cNvPr id="5" name="Straight Arrow Connector 4"/>
          <p:cNvCxnSpPr/>
          <p:nvPr/>
        </p:nvCxnSpPr>
        <p:spPr>
          <a:xfrm>
            <a:off x="8420735" y="4131310"/>
            <a:ext cx="486410" cy="9455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 name="Text Box 5"/>
          <p:cNvSpPr txBox="1"/>
          <p:nvPr/>
        </p:nvSpPr>
        <p:spPr>
          <a:xfrm>
            <a:off x="8486775" y="5182235"/>
            <a:ext cx="1681480" cy="368300"/>
          </a:xfrm>
          <a:prstGeom prst="rect">
            <a:avLst/>
          </a:prstGeom>
          <a:noFill/>
        </p:spPr>
        <p:txBody>
          <a:bodyPr wrap="square" rtlCol="0">
            <a:spAutoFit/>
          </a:bodyPr>
          <a:p>
            <a:r>
              <a:rPr lang="en-US"/>
              <a:t>STACK</a:t>
            </a:r>
            <a:endParaRPr lang="en-US"/>
          </a:p>
        </p:txBody>
      </p:sp>
      <p:cxnSp>
        <p:nvCxnSpPr>
          <p:cNvPr id="7" name="Straight Arrow Connector 6"/>
          <p:cNvCxnSpPr/>
          <p:nvPr/>
        </p:nvCxnSpPr>
        <p:spPr>
          <a:xfrm>
            <a:off x="5972810" y="4017645"/>
            <a:ext cx="486410" cy="9455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Text Box 7"/>
          <p:cNvSpPr txBox="1"/>
          <p:nvPr/>
        </p:nvSpPr>
        <p:spPr>
          <a:xfrm>
            <a:off x="6096635" y="5096510"/>
            <a:ext cx="897890" cy="368300"/>
          </a:xfrm>
          <a:prstGeom prst="rect">
            <a:avLst/>
          </a:prstGeom>
          <a:noFill/>
        </p:spPr>
        <p:txBody>
          <a:bodyPr wrap="square" rtlCol="0">
            <a:spAutoFit/>
          </a:bodyPr>
          <a:p>
            <a:r>
              <a:rPr lang="en-US"/>
              <a:t>PIN</a:t>
            </a:r>
            <a:endParaRPr lang="en-US"/>
          </a:p>
        </p:txBody>
      </p:sp>
      <p:cxnSp>
        <p:nvCxnSpPr>
          <p:cNvPr id="9" name="Straight Arrow Connector 8"/>
          <p:cNvCxnSpPr/>
          <p:nvPr/>
        </p:nvCxnSpPr>
        <p:spPr>
          <a:xfrm>
            <a:off x="7107555" y="3920490"/>
            <a:ext cx="486410" cy="9455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Text Box 9"/>
          <p:cNvSpPr txBox="1"/>
          <p:nvPr/>
        </p:nvSpPr>
        <p:spPr>
          <a:xfrm>
            <a:off x="7372985" y="4963160"/>
            <a:ext cx="1215390" cy="368300"/>
          </a:xfrm>
          <a:prstGeom prst="rect">
            <a:avLst/>
          </a:prstGeom>
          <a:noFill/>
        </p:spPr>
        <p:txBody>
          <a:bodyPr wrap="square" rtlCol="0">
            <a:spAutoFit/>
          </a:bodyPr>
          <a:p>
            <a:r>
              <a:rPr lang="en-US"/>
              <a:t>ISSUES</a:t>
            </a:r>
            <a:endParaRPr lang="en-US"/>
          </a:p>
        </p:txBody>
      </p:sp>
      <p:cxnSp>
        <p:nvCxnSpPr>
          <p:cNvPr id="11" name="Straight Arrow Connector 10"/>
          <p:cNvCxnSpPr/>
          <p:nvPr/>
        </p:nvCxnSpPr>
        <p:spPr>
          <a:xfrm>
            <a:off x="4658360" y="3920490"/>
            <a:ext cx="486410" cy="9455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 name="Text Box 11"/>
          <p:cNvSpPr txBox="1"/>
          <p:nvPr/>
        </p:nvSpPr>
        <p:spPr>
          <a:xfrm>
            <a:off x="4907915" y="4963160"/>
            <a:ext cx="897890" cy="368300"/>
          </a:xfrm>
          <a:prstGeom prst="rect">
            <a:avLst/>
          </a:prstGeom>
          <a:noFill/>
        </p:spPr>
        <p:txBody>
          <a:bodyPr wrap="square" rtlCol="0">
            <a:spAutoFit/>
          </a:bodyPr>
          <a:p>
            <a:r>
              <a:rPr lang="en-US"/>
              <a:t>ALIGN</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1. Auto Layout bar</a:t>
            </a:r>
            <a:endParaRPr lang="en-US"/>
          </a:p>
        </p:txBody>
      </p:sp>
      <p:sp>
        <p:nvSpPr>
          <p:cNvPr id="3" name="Content Placeholder 2"/>
          <p:cNvSpPr>
            <a:spLocks noGrp="1"/>
          </p:cNvSpPr>
          <p:nvPr>
            <p:ph idx="1"/>
          </p:nvPr>
        </p:nvSpPr>
        <p:spPr/>
        <p:txBody>
          <a:bodyPr/>
          <a:p>
            <a:r>
              <a:rPr lang="en-US"/>
              <a:t>Align : Create Alignment constrints, such as aligning the left edges of two views.</a:t>
            </a:r>
            <a:endParaRPr lang="en-US"/>
          </a:p>
          <a:p>
            <a:r>
              <a:rPr lang="en-US"/>
              <a:t>Pin : Create Spacing Constrints, such as defining width of a UI control</a:t>
            </a:r>
            <a:endParaRPr lang="en-US"/>
          </a:p>
          <a:p>
            <a:r>
              <a:rPr lang="en-US"/>
              <a:t>Issues :  Resolve Layout is issues.</a:t>
            </a:r>
            <a:endParaRPr lang="en-US"/>
          </a:p>
          <a:p>
            <a:r>
              <a:rPr lang="en-US"/>
              <a:t>Stack : Embed views into a stack view.</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Control Drag</a:t>
            </a:r>
            <a:endParaRPr lang="en-US"/>
          </a:p>
        </p:txBody>
      </p:sp>
      <p:sp>
        <p:nvSpPr>
          <p:cNvPr id="3" name="Content Placeholder 2"/>
          <p:cNvSpPr>
            <a:spLocks noGrp="1"/>
          </p:cNvSpPr>
          <p:nvPr>
            <p:ph idx="1"/>
          </p:nvPr>
        </p:nvSpPr>
        <p:spPr/>
        <p:txBody>
          <a:bodyPr/>
          <a:p>
            <a:r>
              <a:rPr lang="en-US"/>
              <a:t>Control Drag refers to Explicity dragging the control according your alignment or requirement or UI Adjustncy.</a:t>
            </a:r>
            <a:endParaRPr lang="en-US"/>
          </a:p>
          <a:p>
            <a:endParaRPr lang="en-US"/>
          </a:p>
          <a:p>
            <a:r>
              <a:rPr lang="en-US"/>
              <a:t>it can be lead to constraint conflicting.</a:t>
            </a:r>
            <a:endParaRPr lang="en-US"/>
          </a:p>
          <a:p>
            <a:r>
              <a:rPr lang="en-US"/>
              <a:t>so what is the indication that your constraint is false or not proper ?</a:t>
            </a:r>
            <a:endParaRPr lang="en-US"/>
          </a:p>
          <a:p>
            <a:r>
              <a:rPr lang="en-US"/>
              <a:t>let’s explore that....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Resolving Layout Constraints Issues</a:t>
            </a:r>
            <a:endParaRPr lang="en-US"/>
          </a:p>
        </p:txBody>
      </p:sp>
      <p:sp>
        <p:nvSpPr>
          <p:cNvPr id="3" name="Content Placeholder 2"/>
          <p:cNvSpPr>
            <a:spLocks noGrp="1"/>
          </p:cNvSpPr>
          <p:nvPr>
            <p:ph idx="1"/>
          </p:nvPr>
        </p:nvSpPr>
        <p:spPr/>
        <p:txBody>
          <a:bodyPr/>
          <a:p>
            <a:r>
              <a:rPr lang="en-US"/>
              <a:t>Auto layout issues occur whe you create ambiguous or conflicting constrints.</a:t>
            </a:r>
            <a:endParaRPr lang="en-US"/>
          </a:p>
          <a:p>
            <a:r>
              <a:rPr lang="en-US"/>
              <a:t>Interface builder found thos confusing, hence it will draw an orange or red line to indicate you that this constraint is not proper.</a:t>
            </a:r>
            <a:endParaRPr lang="en-US"/>
          </a:p>
          <a:p>
            <a:r>
              <a:rPr lang="en-US"/>
              <a:t>in this case as a solution , we have to select the “UPDATE FRAME” option from editor manu and set the constraint properly.</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Thank you</a:t>
            </a:r>
            <a:endParaRPr lang="en-US"/>
          </a:p>
        </p:txBody>
      </p:sp>
      <p:sp>
        <p:nvSpPr>
          <p:cNvPr id="5" name="Text Placeholder 4"/>
          <p:cNvSpPr>
            <a:spLocks noGrp="1"/>
          </p:cNvSpPr>
          <p:nvPr>
            <p:ph type="body" idx="1"/>
          </p:nvPr>
        </p:nvSpPr>
        <p:spPr/>
        <p:txBody>
          <a:bodyPr/>
          <a:p>
            <a:r>
              <a:rPr lang="en-US"/>
              <a:t>Vraj Suratwala, Department of ICT, VNSGU</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2261</Words>
  <Application>WPS Presentation</Application>
  <PresentationFormat>Widescreen</PresentationFormat>
  <Paragraphs>97</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Arial Unicode MS</vt:lpstr>
      <vt:lpstr>Calibri Light</vt:lpstr>
      <vt:lpstr>Helvetica Neue</vt:lpstr>
      <vt:lpstr>Calibri</vt:lpstr>
      <vt:lpstr>Microsoft YaHei</vt:lpstr>
      <vt:lpstr>汉仪旗黑</vt:lpstr>
      <vt:lpstr>宋体-简</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suratwalavraj</dc:creator>
  <cp:lastModifiedBy>suratwalavraj</cp:lastModifiedBy>
  <cp:revision>5</cp:revision>
  <dcterms:created xsi:type="dcterms:W3CDTF">2026-02-12T15:31:17Z</dcterms:created>
  <dcterms:modified xsi:type="dcterms:W3CDTF">2026-02-12T15:31:17Z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F9DC7B4429E65FADA5EB8D69B8357780_41</vt:lpwstr>
  </property>
  <property fmtid="{D5CDD505-2E9C-101B-9397-08002B2CF9AE}" pid="3" name="KSOProductBuildVer">
    <vt:lpwstr>1033-12.1.23155.23155</vt:lpwstr>
  </property>
</Properties>
</file>