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Advance Programming in iOS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Reference  : Multiple AI Platforms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Topics Covered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API Integration</a:t>
            </a:r>
            <a:endParaRPr lang="en-US"/>
          </a:p>
          <a:p>
            <a:r>
              <a:rPr lang="en-US"/>
              <a:t>Location Based Services</a:t>
            </a:r>
            <a:endParaRPr lang="en-US"/>
          </a:p>
          <a:p>
            <a:pPr lvl="1"/>
            <a:r>
              <a:rPr lang="en-US"/>
              <a:t>Core Location Services</a:t>
            </a:r>
            <a:endParaRPr lang="en-US"/>
          </a:p>
          <a:p>
            <a:pPr lvl="1"/>
            <a:r>
              <a:rPr lang="en-US"/>
              <a:t>CLLocation and CLLocationManager Classes</a:t>
            </a:r>
            <a:endParaRPr lang="en-US"/>
          </a:p>
          <a:p>
            <a:pPr lvl="1"/>
            <a:r>
              <a:rPr lang="en-US"/>
              <a:t>MapKit, MapView and MLPointAnnotation</a:t>
            </a:r>
            <a:endParaRPr lang="en-US"/>
          </a:p>
          <a:p>
            <a:pPr lvl="1"/>
            <a:r>
              <a:rPr lang="en-US"/>
              <a:t>Location Based Callouts</a:t>
            </a:r>
            <a:endParaRPr lang="en-US"/>
          </a:p>
          <a:p>
            <a:pPr lvl="0"/>
            <a:r>
              <a:rPr lang="en-US" altLang="en-US"/>
              <a:t>Publishing iOS App to Apple App Store</a:t>
            </a:r>
            <a:endParaRPr lang="en-US" altLang="en-US"/>
          </a:p>
          <a:p>
            <a:pPr lvl="0"/>
            <a:r>
              <a:rPr lang="en-US" altLang="en-US"/>
              <a:t>Introduction in SwiftUI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Understaing of API Integration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API Integration in iOS is the process of connecting an iOS application with a remote server using an Application Programming Interface (API) to send and receive data over the internet.</a:t>
            </a:r>
            <a:endParaRPr lang="en-US" altLang="en-US"/>
          </a:p>
          <a:p>
            <a:r>
              <a:rPr lang="en-US" altLang="en-US"/>
              <a:t>Usage of API Integration:</a:t>
            </a:r>
            <a:endParaRPr lang="en-US" altLang="en-US"/>
          </a:p>
          <a:p>
            <a:pPr lvl="1"/>
            <a:r>
              <a:rPr lang="en-US" altLang="en-US"/>
              <a:t>To fetch data from server (e.g., weather, user data)</a:t>
            </a:r>
            <a:endParaRPr lang="en-US" altLang="en-US"/>
          </a:p>
          <a:p>
            <a:pPr lvl="1"/>
            <a:r>
              <a:rPr lang="en-US" altLang="en-US"/>
              <a:t>To send data (login, signup, forms)</a:t>
            </a:r>
            <a:endParaRPr lang="en-US" altLang="en-US"/>
          </a:p>
          <a:p>
            <a:pPr lvl="1"/>
            <a:r>
              <a:rPr lang="en-US" altLang="en-US"/>
              <a:t>To connect app with backend/database</a:t>
            </a:r>
            <a:endParaRPr lang="en-US" altLang="en-US"/>
          </a:p>
          <a:p>
            <a:pPr lvl="1"/>
            <a:r>
              <a:rPr lang="en-US" altLang="en-US"/>
              <a:t>To enable real-time updates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Common types of an API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oftenly API referes to SOAP and REST API’s.</a:t>
            </a:r>
            <a:endParaRPr lang="en-US"/>
          </a:p>
          <a:p>
            <a:r>
              <a:rPr lang="en-US"/>
              <a:t>Type 1 : SOAP (Simple Object Access Protocol - rare in iOS today)</a:t>
            </a:r>
            <a:endParaRPr lang="en-US"/>
          </a:p>
          <a:p>
            <a:r>
              <a:rPr lang="en-US"/>
              <a:t>Type 2 : REST (Representational State Transfer)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HTTP Methods used by REST API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GET -&gt; Fetch Data</a:t>
            </a:r>
            <a:endParaRPr lang="en-US"/>
          </a:p>
          <a:p>
            <a:r>
              <a:rPr lang="en-US"/>
              <a:t>POST -&gt; Send Data</a:t>
            </a:r>
            <a:endParaRPr lang="en-US"/>
          </a:p>
          <a:p>
            <a:r>
              <a:rPr lang="en-US"/>
              <a:t>PUT -&gt; Modify Data</a:t>
            </a:r>
            <a:endParaRPr lang="en-US"/>
          </a:p>
          <a:p>
            <a:r>
              <a:rPr lang="en-US"/>
              <a:t>DELETE -&gt; Remove Data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Components to Integrate an API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URL (Endpoint) → API link</a:t>
            </a:r>
            <a:endParaRPr lang="en-US" altLang="en-US"/>
          </a:p>
          <a:p>
            <a:r>
              <a:rPr lang="en-US" altLang="en-US"/>
              <a:t>HTTP Method → GET, POST, etc.</a:t>
            </a:r>
            <a:endParaRPr lang="en-US" altLang="en-US"/>
          </a:p>
          <a:p>
            <a:r>
              <a:rPr lang="en-US" altLang="en-US"/>
              <a:t>Headers → authentication, content-type</a:t>
            </a:r>
            <a:endParaRPr lang="en-US" altLang="en-US"/>
          </a:p>
          <a:p>
            <a:r>
              <a:rPr lang="en-US" altLang="en-US"/>
              <a:t>Request Body → data sent to server</a:t>
            </a:r>
            <a:endParaRPr lang="en-US" altLang="en-US"/>
          </a:p>
          <a:p>
            <a:r>
              <a:rPr lang="en-US" altLang="en-US"/>
              <a:t>Response → JSON data from server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Steps for API Integration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6465" y="1500505"/>
            <a:ext cx="6838950" cy="50653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Using That API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24585" y="1825625"/>
            <a:ext cx="99421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GET and POST Request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GET : </a:t>
            </a:r>
            <a:endParaRPr lang="en-US" altLang="en-US"/>
          </a:p>
          <a:p>
            <a:r>
              <a:rPr lang="en-US" altLang="en-US"/>
              <a:t>URLSession.shared.dataTask(with: url) { data, response, error in</a:t>
            </a:r>
            <a:endParaRPr lang="en-US" altLang="en-US"/>
          </a:p>
          <a:p>
            <a:r>
              <a:rPr lang="en-US" altLang="en-US"/>
              <a:t>    // fetch data</a:t>
            </a:r>
            <a:endParaRPr lang="en-US" altLang="en-US"/>
          </a:p>
          <a:p>
            <a:r>
              <a:rPr lang="en-US" altLang="en-US"/>
              <a:t>}.resume()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POST :</a:t>
            </a:r>
            <a:endParaRPr lang="en-US" altLang="en-US"/>
          </a:p>
          <a:p>
            <a:r>
              <a:rPr lang="en-US" altLang="en-US"/>
              <a:t>var request = URLRequest(url: url)</a:t>
            </a:r>
            <a:endParaRPr lang="en-US" altLang="en-US"/>
          </a:p>
          <a:p>
            <a:r>
              <a:rPr lang="en-US" altLang="en-US"/>
              <a:t>request.httpMethod = "POST"</a:t>
            </a:r>
            <a:endParaRPr lang="en-US" altLang="en-US"/>
          </a:p>
          <a:p>
            <a:r>
              <a:rPr lang="en-US" altLang="en-US"/>
              <a:t>request.httpBody = try? JSONEncoder().encode(data)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URLSession.shared.dataTask(with: request).resume()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Pro’s and Cons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Advantages : </a:t>
            </a:r>
            <a:endParaRPr lang="en-US"/>
          </a:p>
          <a:p>
            <a:pPr lvl="1"/>
            <a:r>
              <a:rPr lang="en-US" altLang="en-US"/>
              <a:t>Real-time data access</a:t>
            </a:r>
            <a:endParaRPr lang="en-US" altLang="en-US"/>
          </a:p>
          <a:p>
            <a:pPr lvl="1"/>
            <a:r>
              <a:rPr lang="en-US" altLang="en-US"/>
              <a:t>Dynamic content</a:t>
            </a:r>
            <a:endParaRPr lang="en-US" altLang="en-US"/>
          </a:p>
          <a:p>
            <a:pPr lvl="1"/>
            <a:r>
              <a:rPr lang="en-US" altLang="en-US"/>
              <a:t>Easy backend connection</a:t>
            </a:r>
            <a:endParaRPr lang="en-US" altLang="en-US"/>
          </a:p>
          <a:p>
            <a:pPr lvl="1"/>
            <a:r>
              <a:rPr lang="en-US" altLang="en-US"/>
              <a:t>Scalable</a:t>
            </a:r>
            <a:endParaRPr lang="en-US" altLang="en-US"/>
          </a:p>
          <a:p>
            <a:pPr lvl="1"/>
            <a:endParaRPr lang="en-US" altLang="en-US"/>
          </a:p>
          <a:p>
            <a:pPr lvl="0"/>
            <a:r>
              <a:rPr lang="en-US" altLang="en-US"/>
              <a:t>Disadvantages : </a:t>
            </a:r>
            <a:endParaRPr lang="en-US" altLang="en-US"/>
          </a:p>
          <a:p>
            <a:pPr lvl="1"/>
            <a:r>
              <a:rPr lang="en-US" altLang="en-US"/>
              <a:t>Requires internet</a:t>
            </a:r>
            <a:endParaRPr lang="en-US" altLang="en-US"/>
          </a:p>
          <a:p>
            <a:pPr lvl="1"/>
            <a:r>
              <a:rPr lang="en-US" altLang="en-US"/>
              <a:t>Security risks</a:t>
            </a:r>
            <a:endParaRPr lang="en-US" altLang="en-US"/>
          </a:p>
          <a:p>
            <a:pPr lvl="1"/>
            <a:r>
              <a:rPr lang="en-US" altLang="en-US"/>
              <a:t>Dependency on server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Location Based Services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Location Based Services (LBS) are services in iOS that use the device’s geographic location to provide features like maps, navigation, tracking, and nearby suggestions.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Used to get:</a:t>
            </a:r>
            <a:endParaRPr lang="en-US" altLang="en-US"/>
          </a:p>
          <a:p>
            <a:pPr lvl="2"/>
            <a:r>
              <a:rPr lang="en-US" altLang="en-US"/>
              <a:t>Latitude &amp; Longitude</a:t>
            </a:r>
            <a:endParaRPr lang="en-US" altLang="en-US"/>
          </a:p>
          <a:p>
            <a:pPr lvl="2"/>
            <a:r>
              <a:rPr lang="en-US" altLang="en-US"/>
              <a:t>Speed</a:t>
            </a:r>
            <a:endParaRPr lang="en-US" altLang="en-US"/>
          </a:p>
          <a:p>
            <a:pPr lvl="2"/>
            <a:r>
              <a:rPr lang="en-US" altLang="en-US"/>
              <a:t>Direction</a:t>
            </a:r>
            <a:endParaRPr lang="en-US" altLang="en-US"/>
          </a:p>
          <a:p>
            <a:pPr lvl="2"/>
            <a:r>
              <a:rPr lang="en-US" altLang="en-US"/>
              <a:t>Altitude</a:t>
            </a:r>
            <a:endParaRPr lang="en-US" altLang="en-US"/>
          </a:p>
          <a:p>
            <a:pPr lvl="1"/>
            <a:r>
              <a:rPr lang="en-US" altLang="en-US"/>
              <a:t>Framework name: CoreLocation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Flow Diagram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6985" y="1825625"/>
            <a:ext cx="455739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CLLocation Class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Represents a specific geographic location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Properties</a:t>
            </a:r>
            <a:endParaRPr lang="en-US" altLang="en-US"/>
          </a:p>
          <a:p>
            <a:pPr lvl="1"/>
            <a:r>
              <a:rPr lang="en-US" altLang="en-US"/>
              <a:t>coordinate → latitude &amp; longitude</a:t>
            </a:r>
            <a:endParaRPr lang="en-US" altLang="en-US"/>
          </a:p>
          <a:p>
            <a:pPr lvl="1"/>
            <a:r>
              <a:rPr lang="en-US" altLang="en-US"/>
              <a:t>altitude → height</a:t>
            </a:r>
            <a:endParaRPr lang="en-US" altLang="en-US"/>
          </a:p>
          <a:p>
            <a:pPr lvl="1"/>
            <a:r>
              <a:rPr lang="en-US" altLang="en-US"/>
              <a:t>speed → movement speed</a:t>
            </a:r>
            <a:endParaRPr lang="en-US" altLang="en-US"/>
          </a:p>
          <a:p>
            <a:pPr lvl="1"/>
            <a:r>
              <a:rPr lang="en-US" altLang="en-US"/>
              <a:t>timestamp → time of location</a:t>
            </a:r>
            <a:endParaRPr lang="en-US" altLang="en-US"/>
          </a:p>
          <a:p>
            <a:pPr lvl="1"/>
            <a:endParaRPr lang="en-US" altLang="en-US"/>
          </a:p>
          <a:p>
            <a:pPr lvl="0"/>
            <a:r>
              <a:rPr lang="en-US" altLang="en-US"/>
              <a:t>Example : </a:t>
            </a:r>
            <a:endParaRPr lang="en-US" altLang="en-US"/>
          </a:p>
          <a:p>
            <a:pPr lvl="1"/>
            <a:r>
              <a:rPr lang="en-US" altLang="en-US"/>
              <a:t>let location = CLLocation(latitude: 21.1702, longitude: 72.8311)</a:t>
            </a:r>
            <a:endParaRPr lang="en-US" altLang="en-US"/>
          </a:p>
          <a:p>
            <a:pPr lvl="1"/>
            <a:r>
              <a:rPr lang="en-US" altLang="en-US"/>
              <a:t>print(location.coordinate.latitude)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CLLocationManager Class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2570"/>
            <a:ext cx="10515600" cy="5071110"/>
          </a:xfrm>
        </p:spPr>
        <p:txBody>
          <a:bodyPr>
            <a:normAutofit fontScale="90000" lnSpcReduction="10000"/>
          </a:bodyPr>
          <a:p>
            <a:r>
              <a:rPr lang="en-US" altLang="en-US"/>
              <a:t>Used to manage and receive location updates</a:t>
            </a:r>
            <a:endParaRPr lang="en-US" altLang="en-US"/>
          </a:p>
          <a:p>
            <a:r>
              <a:rPr lang="en-US" altLang="en-US"/>
              <a:t>Steps to Use this Class :</a:t>
            </a:r>
            <a:endParaRPr lang="en-US" altLang="en-US"/>
          </a:p>
          <a:p>
            <a:pPr lvl="1"/>
            <a:r>
              <a:rPr lang="en-US" altLang="en-US"/>
              <a:t>1. Import Framework</a:t>
            </a:r>
            <a:endParaRPr lang="en-US" altLang="en-US"/>
          </a:p>
          <a:p>
            <a:pPr lvl="2"/>
            <a:r>
              <a:rPr lang="en-US" altLang="en-US"/>
              <a:t>import CoreLocation</a:t>
            </a:r>
            <a:endParaRPr lang="en-US" altLang="en-US"/>
          </a:p>
          <a:p>
            <a:pPr lvl="1"/>
            <a:r>
              <a:rPr lang="en-US" altLang="en-US"/>
              <a:t>2. Create Manager</a:t>
            </a:r>
            <a:endParaRPr lang="en-US" altLang="en-US"/>
          </a:p>
          <a:p>
            <a:pPr lvl="2"/>
            <a:r>
              <a:rPr lang="en-US" altLang="en-US"/>
              <a:t>let locationManager = CLLocationManager()</a:t>
            </a:r>
            <a:endParaRPr lang="en-US" altLang="en-US"/>
          </a:p>
          <a:p>
            <a:pPr lvl="1"/>
            <a:r>
              <a:rPr lang="en-US" altLang="en-US"/>
              <a:t>3. Request Permission</a:t>
            </a:r>
            <a:endParaRPr lang="en-US" altLang="en-US"/>
          </a:p>
          <a:p>
            <a:pPr lvl="2"/>
            <a:r>
              <a:rPr lang="en-US" altLang="en-US"/>
              <a:t>locationManager.requestWhenInUseAuthorization()</a:t>
            </a:r>
            <a:endParaRPr lang="en-US" altLang="en-US"/>
          </a:p>
          <a:p>
            <a:pPr lvl="1"/>
            <a:r>
              <a:rPr lang="en-US" altLang="en-US"/>
              <a:t>4. Start Updating Location</a:t>
            </a:r>
            <a:endParaRPr lang="en-US" altLang="en-US"/>
          </a:p>
          <a:p>
            <a:pPr lvl="2"/>
            <a:r>
              <a:rPr lang="en-US" altLang="en-US"/>
              <a:t>locationManager.startUpdatingLocation()</a:t>
            </a:r>
            <a:endParaRPr lang="en-US" altLang="en-US"/>
          </a:p>
          <a:p>
            <a:pPr lvl="1"/>
            <a:r>
              <a:rPr lang="en-US" altLang="en-US"/>
              <a:t>5. Get Location (Deletegate Method)</a:t>
            </a:r>
            <a:endParaRPr lang="en-US" altLang="en-US"/>
          </a:p>
          <a:p>
            <a:pPr lvl="2"/>
            <a:r>
              <a:rPr lang="en-US" altLang="en-US"/>
              <a:t>func locationManager(_ manager: CLLocationManager, didUpdateLocations locations: [CLLocation]) {</a:t>
            </a:r>
            <a:endParaRPr lang="en-US" altLang="en-US"/>
          </a:p>
          <a:p>
            <a:pPr lvl="2"/>
            <a:r>
              <a:rPr lang="en-US" altLang="en-US"/>
              <a:t>    let location = locations.last</a:t>
            </a:r>
            <a:endParaRPr lang="en-US" altLang="en-US"/>
          </a:p>
          <a:p>
            <a:pPr lvl="2"/>
            <a:r>
              <a:rPr lang="en-US" altLang="en-US"/>
              <a:t>}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MapKit Framework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Used to display maps in iOS apps</a:t>
            </a:r>
            <a:endParaRPr lang="en-US" altLang="en-US"/>
          </a:p>
          <a:p>
            <a:r>
              <a:rPr lang="en-US" altLang="en-US"/>
              <a:t>Works with Core Location</a:t>
            </a:r>
            <a:endParaRPr lang="en-US" altLang="en-US"/>
          </a:p>
          <a:p>
            <a:r>
              <a:rPr lang="en-US" altLang="en-US"/>
              <a:t>Provides map UI like Apple Maps</a:t>
            </a:r>
            <a:endParaRPr lang="en-US" altLang="en-US"/>
          </a:p>
          <a:p>
            <a:pPr lvl="1"/>
            <a:r>
              <a:rPr lang="en-US" altLang="en-US"/>
              <a:t> Framework: MapKit</a:t>
            </a:r>
            <a:endParaRPr lang="en-US" altLang="en-US"/>
          </a:p>
          <a:p>
            <a:pPr lvl="1"/>
            <a:endParaRPr lang="en-US" altLang="en-US"/>
          </a:p>
          <a:p>
            <a:pPr lvl="0"/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MKMapView (MapView)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6598920" cy="4790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MKPointAnnotation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0590" y="1825625"/>
            <a:ext cx="818515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Location Based Services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A popup bubble that appears when user taps on a map pin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Features</a:t>
            </a:r>
            <a:endParaRPr lang="en-US" altLang="en-US"/>
          </a:p>
          <a:p>
            <a:pPr lvl="1"/>
            <a:r>
              <a:rPr lang="en-US" altLang="en-US"/>
              <a:t>Shows title &amp; subtitle</a:t>
            </a:r>
            <a:endParaRPr lang="en-US" altLang="en-US"/>
          </a:p>
          <a:p>
            <a:pPr lvl="1"/>
            <a:r>
              <a:rPr lang="en-US" altLang="en-US"/>
              <a:t>Can add buttons (info, navigation)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CODE :</a:t>
            </a:r>
            <a:endParaRPr lang="en-US" altLang="en-US"/>
          </a:p>
          <a:p>
            <a:pPr lvl="1"/>
            <a:r>
              <a:rPr lang="en-US" altLang="en-US"/>
              <a:t>annotation.title = "My Location"</a:t>
            </a:r>
            <a:endParaRPr lang="en-US" altLang="en-US"/>
          </a:p>
          <a:p>
            <a:pPr lvl="1"/>
            <a:r>
              <a:rPr lang="en-US" altLang="en-US"/>
              <a:t>annotation.subtitle = "Tap for more info"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NOTE : When user taps pin → callout appears automatically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Impotant Abstraction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CoreLocation → get location</a:t>
            </a:r>
            <a:endParaRPr lang="en-US" altLang="en-US"/>
          </a:p>
          <a:p>
            <a:r>
              <a:rPr lang="en-US" altLang="en-US"/>
              <a:t>CLLocation → stores location</a:t>
            </a:r>
            <a:endParaRPr lang="en-US" altLang="en-US"/>
          </a:p>
          <a:p>
            <a:r>
              <a:rPr lang="en-US" altLang="en-US"/>
              <a:t>CLLocationManager → fetch/update location</a:t>
            </a:r>
            <a:endParaRPr lang="en-US" altLang="en-US"/>
          </a:p>
          <a:p>
            <a:r>
              <a:rPr lang="en-US" altLang="en-US"/>
              <a:t>MapKit → display maps</a:t>
            </a:r>
            <a:endParaRPr lang="en-US" altLang="en-US"/>
          </a:p>
          <a:p>
            <a:r>
              <a:rPr lang="en-US" altLang="en-US"/>
              <a:t>MKMapView → map UI</a:t>
            </a:r>
            <a:endParaRPr lang="en-US" altLang="en-US"/>
          </a:p>
          <a:p>
            <a:r>
              <a:rPr lang="en-US" altLang="en-US"/>
              <a:t>MKPointAnnotation → pins</a:t>
            </a:r>
            <a:endParaRPr lang="en-US" altLang="en-US"/>
          </a:p>
          <a:p>
            <a:r>
              <a:rPr lang="en-US" altLang="en-US"/>
              <a:t>Callouts → info popup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Advantages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Real-time tracking</a:t>
            </a:r>
            <a:endParaRPr lang="en-US" altLang="en-US"/>
          </a:p>
          <a:p>
            <a:r>
              <a:rPr lang="en-US" altLang="en-US"/>
              <a:t>Navigation support</a:t>
            </a:r>
            <a:endParaRPr lang="en-US" altLang="en-US"/>
          </a:p>
          <a:p>
            <a:r>
              <a:rPr lang="en-US" altLang="en-US"/>
              <a:t>Personalized services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Disadvantages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Battery consumption</a:t>
            </a:r>
            <a:endParaRPr lang="en-US" altLang="en-US"/>
          </a:p>
          <a:p>
            <a:r>
              <a:rPr lang="en-US" altLang="en-US"/>
              <a:t>Privacy concerns</a:t>
            </a:r>
            <a:endParaRPr lang="en-US" altLang="en-US"/>
          </a:p>
          <a:p>
            <a:r>
              <a:rPr lang="en-US" altLang="en-US"/>
              <a:t>Requires permissions</a:t>
            </a: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Publishing iOS App to Apple App Store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Publishing an iOS app means deploying and submitting the app to Apple App Store so users can download and install it.</a:t>
            </a:r>
            <a:endParaRPr lang="en-US" altLang="en-US"/>
          </a:p>
          <a:p>
            <a:r>
              <a:rPr lang="en-US" altLang="en-US"/>
              <a:t>Requirements</a:t>
            </a:r>
            <a:endParaRPr lang="en-US" altLang="en-US"/>
          </a:p>
          <a:p>
            <a:pPr lvl="1"/>
            <a:r>
              <a:rPr lang="en-US" altLang="en-US"/>
              <a:t>Mac system with Xcode</a:t>
            </a:r>
            <a:endParaRPr lang="en-US" altLang="en-US"/>
          </a:p>
          <a:p>
            <a:pPr lvl="1"/>
            <a:r>
              <a:rPr lang="en-US" altLang="en-US"/>
              <a:t>Apple ID</a:t>
            </a:r>
            <a:endParaRPr lang="en-US" altLang="en-US"/>
          </a:p>
          <a:p>
            <a:pPr lvl="1"/>
            <a:r>
              <a:rPr lang="en-US" altLang="en-US"/>
              <a:t>Apple Developer Account ($99/year)</a:t>
            </a:r>
            <a:endParaRPr lang="en-US" altLang="en-US"/>
          </a:p>
          <a:p>
            <a:pPr lvl="1"/>
            <a:r>
              <a:rPr lang="en-US" altLang="en-US"/>
              <a:t>Valid App Bundle Identifier</a:t>
            </a:r>
            <a:endParaRPr lang="en-US" altLang="en-US"/>
          </a:p>
          <a:p>
            <a:pPr lvl="1"/>
            <a:r>
              <a:rPr lang="en-US" altLang="en-US"/>
              <a:t>App icon &amp; screenshots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Steps :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/>
              <a:t>Step 1 :</a:t>
            </a:r>
            <a:r>
              <a:rPr lang="en-US" altLang="en-US"/>
              <a:t> Create App in App Store Connect</a:t>
            </a:r>
            <a:endParaRPr lang="en-US" altLang="en-US"/>
          </a:p>
          <a:p>
            <a:pPr lvl="1"/>
            <a:r>
              <a:rPr lang="en-US" altLang="en-US"/>
              <a:t>Go to App Store Connect</a:t>
            </a:r>
            <a:endParaRPr lang="en-US" altLang="en-US"/>
          </a:p>
          <a:p>
            <a:pPr lvl="1"/>
            <a:r>
              <a:rPr lang="en-US" altLang="en-US"/>
              <a:t>Click → My Apps → + → New App</a:t>
            </a:r>
            <a:endParaRPr lang="en-US" altLang="en-US"/>
          </a:p>
          <a:p>
            <a:pPr lvl="1"/>
            <a:r>
              <a:rPr lang="en-US" altLang="en-US"/>
              <a:t>Enter:</a:t>
            </a:r>
            <a:endParaRPr lang="en-US" altLang="en-US"/>
          </a:p>
          <a:p>
            <a:pPr lvl="1"/>
            <a:r>
              <a:rPr lang="en-US" altLang="en-US"/>
              <a:t>App name</a:t>
            </a:r>
            <a:endParaRPr lang="en-US" altLang="en-US"/>
          </a:p>
          <a:p>
            <a:pPr lvl="1"/>
            <a:r>
              <a:rPr lang="en-US" altLang="en-US"/>
              <a:t>Bundle ID</a:t>
            </a:r>
            <a:endParaRPr lang="en-US" altLang="en-US"/>
          </a:p>
          <a:p>
            <a:pPr lvl="1"/>
            <a:r>
              <a:rPr lang="en-US" altLang="en-US"/>
              <a:t>Language</a:t>
            </a:r>
            <a:endParaRPr lang="en-US" altLang="en-US"/>
          </a:p>
          <a:p>
            <a:pPr lvl="0"/>
            <a:r>
              <a:rPr lang="en-US" altLang="en-US" sz="2800"/>
              <a:t>Step 2 : </a:t>
            </a:r>
            <a:r>
              <a:rPr lang="en-US" altLang="en-US"/>
              <a:t>Prepare App in Xcode</a:t>
            </a:r>
            <a:endParaRPr lang="en-US" altLang="en-US"/>
          </a:p>
          <a:p>
            <a:pPr lvl="1"/>
            <a:r>
              <a:rPr lang="en-US" altLang="en-US"/>
              <a:t>Set: </a:t>
            </a:r>
            <a:r>
              <a:rPr lang="en-US" altLang="en-US">
                <a:sym typeface="+mn-ea"/>
              </a:rPr>
              <a:t>Bundle Identifier</a:t>
            </a:r>
            <a:endParaRPr lang="en-US" altLang="en-US"/>
          </a:p>
          <a:p>
            <a:pPr lvl="1"/>
            <a:r>
              <a:rPr lang="en-US" altLang="en-US">
                <a:sym typeface="+mn-ea"/>
              </a:rPr>
              <a:t>Version &amp; Build number</a:t>
            </a:r>
            <a:endParaRPr lang="en-US" altLang="en-US"/>
          </a:p>
          <a:p>
            <a:pPr lvl="1"/>
            <a:r>
              <a:rPr lang="en-US" altLang="en-US">
                <a:sym typeface="+mn-ea"/>
              </a:rPr>
              <a:t>Fix errors &amp; warnings</a:t>
            </a:r>
            <a:endParaRPr lang="en-US" altLang="en-US"/>
          </a:p>
          <a:p>
            <a:pPr lvl="0"/>
            <a:r>
              <a:rPr lang="en-US" altLang="en-US"/>
              <a:t>Test app properly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Steps :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Steo 3 : </a:t>
            </a:r>
            <a:r>
              <a:rPr lang="en-US" altLang="en-US"/>
              <a:t>Archive the App</a:t>
            </a:r>
            <a:endParaRPr lang="en-US" altLang="en-US"/>
          </a:p>
          <a:p>
            <a:r>
              <a:rPr lang="en-US" altLang="en-US"/>
              <a:t>Xcode → Product → Archive</a:t>
            </a:r>
            <a:endParaRPr lang="en-US" altLang="en-US"/>
          </a:p>
          <a:p>
            <a:r>
              <a:rPr lang="en-US" altLang="en-US"/>
              <a:t>Creates a build for upload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Step 4 : Upload App</a:t>
            </a:r>
            <a:endParaRPr lang="en-US" altLang="en-US"/>
          </a:p>
          <a:p>
            <a:r>
              <a:rPr lang="en-US" altLang="en-US"/>
              <a:t>Use Organizer (Xcode)</a:t>
            </a:r>
            <a:endParaRPr lang="en-US" altLang="en-US"/>
          </a:p>
          <a:p>
            <a:r>
              <a:rPr lang="en-US" altLang="en-US"/>
              <a:t>Click → Distribute App → App Store Connect → Upload</a:t>
            </a: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Steps :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/>
              <a:t>Step 5 : </a:t>
            </a:r>
            <a:r>
              <a:rPr lang="en-US" altLang="en-US"/>
              <a:t>Add App Details</a:t>
            </a:r>
            <a:endParaRPr lang="en-US" altLang="en-US"/>
          </a:p>
          <a:p>
            <a:pPr lvl="2"/>
            <a:r>
              <a:rPr lang="en-US" altLang="en-US"/>
              <a:t>App description</a:t>
            </a:r>
            <a:endParaRPr lang="en-US" altLang="en-US"/>
          </a:p>
          <a:p>
            <a:pPr lvl="2"/>
            <a:r>
              <a:rPr lang="en-US" altLang="en-US"/>
              <a:t>Screenshots</a:t>
            </a:r>
            <a:endParaRPr lang="en-US" altLang="en-US"/>
          </a:p>
          <a:p>
            <a:pPr lvl="2"/>
            <a:r>
              <a:rPr lang="en-US" altLang="en-US"/>
              <a:t>Keywords</a:t>
            </a:r>
            <a:endParaRPr lang="en-US" altLang="en-US"/>
          </a:p>
          <a:p>
            <a:pPr lvl="2"/>
            <a:r>
              <a:rPr lang="en-US" altLang="en-US"/>
              <a:t>Category</a:t>
            </a:r>
            <a:endParaRPr lang="en-US" altLang="en-US"/>
          </a:p>
          <a:p>
            <a:pPr lvl="2"/>
            <a:r>
              <a:rPr lang="en-US" altLang="en-US"/>
              <a:t>Pricing</a:t>
            </a:r>
            <a:endParaRPr lang="en-US" altLang="en-US"/>
          </a:p>
          <a:p>
            <a:pPr lvl="2"/>
            <a:endParaRPr lang="en-US" altLang="en-US"/>
          </a:p>
          <a:p>
            <a:pPr lvl="0"/>
            <a:r>
              <a:rPr lang="en-US" altLang="en-US"/>
              <a:t>Step 6 : Submit for Review</a:t>
            </a:r>
            <a:endParaRPr lang="en-US" altLang="en-US"/>
          </a:p>
          <a:p>
            <a:pPr lvl="1"/>
            <a:r>
              <a:rPr lang="en-US" altLang="en-US"/>
              <a:t>Apple reviews app (1–3 days usually)</a:t>
            </a:r>
            <a:endParaRPr lang="en-US" altLang="en-US"/>
          </a:p>
          <a:p>
            <a:pPr lvl="1"/>
            <a:r>
              <a:rPr lang="en-US" altLang="en-US"/>
              <a:t>Must follow App Store Guidelines</a:t>
            </a:r>
            <a:endParaRPr lang="en-US" altLang="en-US"/>
          </a:p>
          <a:p>
            <a:pPr lvl="1"/>
            <a:endParaRPr lang="en-US" altLang="en-US"/>
          </a:p>
          <a:p>
            <a:pPr lvl="0"/>
            <a:r>
              <a:rPr lang="en-US" altLang="en-US"/>
              <a:t>Step 7 :App Approval &amp; Release</a:t>
            </a:r>
            <a:endParaRPr lang="en-US" altLang="en-US"/>
          </a:p>
          <a:p>
            <a:pPr lvl="1"/>
            <a:r>
              <a:rPr lang="en-US" altLang="en-US"/>
              <a:t>After approval → Publish manually or automatically</a:t>
            </a:r>
            <a:endParaRPr lang="en-US" altLang="en-US"/>
          </a:p>
          <a:p>
            <a:pPr lvl="1"/>
            <a:r>
              <a:rPr lang="en-US" altLang="en-US"/>
              <a:t>App becomes live on App Store 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Introduction in SwiftUI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en-US"/>
              <a:t>SwiftUI is a modern UI framework by Apple used to build user interfaces using declarative syntax in Swift.</a:t>
            </a:r>
            <a:endParaRPr lang="en-US" altLang="en-US"/>
          </a:p>
          <a:p>
            <a:pPr lvl="1"/>
            <a:r>
              <a:rPr lang="en-US" altLang="en-US"/>
              <a:t>Declarative UI (just say what, not how)</a:t>
            </a:r>
            <a:endParaRPr lang="en-US" altLang="en-US"/>
          </a:p>
          <a:p>
            <a:pPr lvl="1"/>
            <a:r>
              <a:rPr lang="en-US" altLang="en-US"/>
              <a:t>Live preview</a:t>
            </a:r>
            <a:endParaRPr lang="en-US" altLang="en-US"/>
          </a:p>
          <a:p>
            <a:pPr lvl="1"/>
            <a:r>
              <a:rPr lang="en-US" altLang="en-US"/>
              <a:t>Less code</a:t>
            </a:r>
            <a:endParaRPr lang="en-US" altLang="en-US"/>
          </a:p>
          <a:p>
            <a:pPr lvl="1"/>
            <a:r>
              <a:rPr lang="en-US" altLang="en-US"/>
              <a:t>Cross-platform (iOS, macOS, watchOS)</a:t>
            </a:r>
            <a:endParaRPr lang="en-US" altLang="en-US"/>
          </a:p>
          <a:p>
            <a:pPr lvl="1"/>
            <a:r>
              <a:rPr lang="en-US" altLang="en-US"/>
              <a:t>Automatic dark mode support</a:t>
            </a:r>
            <a:endParaRPr lang="en-US" altLang="en-US"/>
          </a:p>
          <a:p>
            <a:pPr lvl="1"/>
            <a:r>
              <a:rPr lang="en-US" altLang="en-US"/>
              <a:t>CODE :	</a:t>
            </a:r>
            <a:endParaRPr lang="en-US" altLang="en-US"/>
          </a:p>
          <a:p>
            <a:pPr lvl="2"/>
            <a:r>
              <a:rPr lang="en-US" altLang="en-US"/>
              <a:t>import SwiftUI</a:t>
            </a:r>
            <a:endParaRPr lang="en-US" altLang="en-US"/>
          </a:p>
          <a:p>
            <a:pPr lvl="2"/>
            <a:endParaRPr lang="en-US" altLang="en-US"/>
          </a:p>
          <a:p>
            <a:pPr lvl="2"/>
            <a:r>
              <a:rPr lang="en-US" altLang="en-US"/>
              <a:t>struct ContentView: View {</a:t>
            </a:r>
            <a:endParaRPr lang="en-US" altLang="en-US"/>
          </a:p>
          <a:p>
            <a:pPr lvl="2"/>
            <a:r>
              <a:rPr lang="en-US" altLang="en-US"/>
              <a:t>    var body: some View {</a:t>
            </a:r>
            <a:endParaRPr lang="en-US" altLang="en-US"/>
          </a:p>
          <a:p>
            <a:pPr lvl="2"/>
            <a:r>
              <a:rPr lang="en-US" altLang="en-US"/>
              <a:t>        Text("Hello, World!")</a:t>
            </a:r>
            <a:endParaRPr lang="en-US" altLang="en-US"/>
          </a:p>
          <a:p>
            <a:pPr lvl="2"/>
            <a:r>
              <a:rPr lang="en-US" altLang="en-US"/>
              <a:t>    }</a:t>
            </a:r>
            <a:endParaRPr lang="en-US" altLang="en-US"/>
          </a:p>
          <a:p>
            <a:pPr lvl="2"/>
            <a:r>
              <a:rPr lang="en-US" altLang="en-US"/>
              <a:t>}</a:t>
            </a:r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SwiftUI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Common UI Components</a:t>
            </a:r>
            <a:endParaRPr lang="en-US" altLang="en-US"/>
          </a:p>
          <a:p>
            <a:r>
              <a:rPr lang="en-US" altLang="en-US"/>
              <a:t>Text → display text</a:t>
            </a:r>
            <a:endParaRPr lang="en-US" altLang="en-US"/>
          </a:p>
          <a:p>
            <a:r>
              <a:rPr lang="en-US" altLang="en-US"/>
              <a:t>Image → show images</a:t>
            </a:r>
            <a:endParaRPr lang="en-US" altLang="en-US"/>
          </a:p>
          <a:p>
            <a:r>
              <a:rPr lang="en-US" altLang="en-US"/>
              <a:t>Button → user interaction</a:t>
            </a:r>
            <a:endParaRPr lang="en-US" altLang="en-US"/>
          </a:p>
          <a:p>
            <a:r>
              <a:rPr lang="en-US" altLang="en-US"/>
              <a:t>VStack / HStack / ZStack → layouts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VStack {</a:t>
            </a:r>
            <a:endParaRPr lang="en-US" altLang="en-US"/>
          </a:p>
          <a:p>
            <a:r>
              <a:rPr lang="en-US" altLang="en-US"/>
              <a:t>    Text("Welcome")</a:t>
            </a:r>
            <a:endParaRPr lang="en-US" altLang="en-US"/>
          </a:p>
          <a:p>
            <a:r>
              <a:rPr lang="en-US" altLang="en-US"/>
              <a:t>    Button("Click Me") {</a:t>
            </a:r>
            <a:endParaRPr lang="en-US" altLang="en-US"/>
          </a:p>
          <a:p>
            <a:r>
              <a:rPr lang="en-US" altLang="en-US"/>
              <a:t>        print("Tapped")</a:t>
            </a:r>
            <a:endParaRPr lang="en-US" altLang="en-US"/>
          </a:p>
          <a:p>
            <a:r>
              <a:rPr lang="en-US" altLang="en-US"/>
              <a:t>    }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Advantages abd Disadvantages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Advantages</a:t>
            </a:r>
            <a:endParaRPr lang="en-US" altLang="en-US"/>
          </a:p>
          <a:p>
            <a:pPr lvl="1"/>
            <a:r>
              <a:rPr lang="en-US" altLang="en-US"/>
              <a:t>Easy to learn</a:t>
            </a:r>
            <a:endParaRPr lang="en-US" altLang="en-US"/>
          </a:p>
          <a:p>
            <a:pPr lvl="1"/>
            <a:r>
              <a:rPr lang="en-US" altLang="en-US"/>
              <a:t>Fast UI development</a:t>
            </a:r>
            <a:endParaRPr lang="en-US" altLang="en-US"/>
          </a:p>
          <a:p>
            <a:pPr lvl="1"/>
            <a:r>
              <a:rPr lang="en-US" altLang="en-US"/>
              <a:t>Real-time preview</a:t>
            </a:r>
            <a:endParaRPr lang="en-US" altLang="en-US"/>
          </a:p>
          <a:p>
            <a:pPr lvl="1"/>
            <a:r>
              <a:rPr lang="en-US" altLang="en-US"/>
              <a:t>Cleaner code</a:t>
            </a:r>
            <a:endParaRPr lang="en-US" altLang="en-US"/>
          </a:p>
          <a:p>
            <a:pPr lvl="1"/>
            <a:endParaRPr lang="en-US" altLang="en-US"/>
          </a:p>
          <a:p>
            <a:pPr lvl="0"/>
            <a:r>
              <a:rPr lang="en-US" altLang="en-US"/>
              <a:t>Disadvantages </a:t>
            </a:r>
            <a:endParaRPr lang="en-US" altLang="en-US"/>
          </a:p>
          <a:p>
            <a:pPr lvl="1"/>
            <a:r>
              <a:rPr lang="en-US" altLang="en-US"/>
              <a:t>Limited for older iOS versions</a:t>
            </a:r>
            <a:endParaRPr lang="en-US" altLang="en-US"/>
          </a:p>
          <a:p>
            <a:pPr lvl="1"/>
            <a:r>
              <a:rPr lang="en-US" altLang="en-US"/>
              <a:t>Still evolving</a:t>
            </a:r>
            <a:endParaRPr lang="en-US" altLang="en-US"/>
          </a:p>
          <a:p>
            <a:pPr lvl="1"/>
            <a:r>
              <a:rPr lang="en-US" altLang="en-US"/>
              <a:t>Less control compared to UIKit</a:t>
            </a: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5219</Words>
  <Application>WPS Writer</Application>
  <PresentationFormat>Widescreen</PresentationFormat>
  <Paragraphs>274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Apple Color Emoji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suratwalavraj</dc:creator>
  <cp:lastModifiedBy>suratwalavraj</cp:lastModifiedBy>
  <cp:revision>21</cp:revision>
  <dcterms:created xsi:type="dcterms:W3CDTF">2026-03-30T06:30:58Z</dcterms:created>
  <dcterms:modified xsi:type="dcterms:W3CDTF">2026-03-30T06:30:58Z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E8932D6CB976922CE60FCA69161F3867_41</vt:lpwstr>
  </property>
  <property fmtid="{D5CDD505-2E9C-101B-9397-08002B2CF9AE}" pid="3" name="KSOProductBuildVer">
    <vt:lpwstr>1033-12.1.23155.23155</vt:lpwstr>
  </property>
</Properties>
</file>