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7" r:id="rId4"/>
    <p:sldId id="257" r:id="rId5"/>
    <p:sldId id="258" r:id="rId6"/>
    <p:sldId id="259" r:id="rId7"/>
    <p:sldId id="260" r:id="rId8"/>
    <p:sldId id="261" r:id="rId9"/>
    <p:sldId id="273" r:id="rId10"/>
    <p:sldId id="274" r:id="rId11"/>
    <p:sldId id="262" r:id="rId12"/>
    <p:sldId id="276" r:id="rId13"/>
    <p:sldId id="281" r:id="rId14"/>
    <p:sldId id="282" r:id="rId15"/>
    <p:sldId id="283" r:id="rId16"/>
    <p:sldId id="284" r:id="rId17"/>
    <p:sldId id="285" r:id="rId18"/>
    <p:sldId id="286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87" r:id="rId30"/>
    <p:sldId id="289" r:id="rId31"/>
    <p:sldId id="288" r:id="rId32"/>
    <p:sldId id="290" r:id="rId33"/>
    <p:sldId id="291" r:id="rId34"/>
    <p:sldId id="292" r:id="rId35"/>
    <p:sldId id="29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XCode and Storyboard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Topics Covered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Introduction to XCode and Storyboard</a:t>
            </a:r>
            <a:endParaRPr lang="en-US"/>
          </a:p>
          <a:p>
            <a:r>
              <a:rPr lang="en-US"/>
              <a:t>Advantages and Disadvantages Storyboard</a:t>
            </a:r>
            <a:endParaRPr lang="en-US"/>
          </a:p>
          <a:p>
            <a:r>
              <a:rPr lang="en-US"/>
              <a:t>Interface builder and an Outlets</a:t>
            </a:r>
            <a:endParaRPr lang="en-US"/>
          </a:p>
          <a:p>
            <a:r>
              <a:rPr lang="en-US">
                <a:sym typeface="+mn-ea"/>
              </a:rPr>
              <a:t>Introduction UIView, UIController and UIWindow</a:t>
            </a:r>
            <a:endParaRPr lang="en-US"/>
          </a:p>
          <a:p>
            <a:r>
              <a:rPr lang="en-US"/>
              <a:t>Windows and Views</a:t>
            </a:r>
            <a:endParaRPr lang="en-US"/>
          </a:p>
          <a:p>
            <a:r>
              <a:rPr lang="en-US"/>
              <a:t>MVC Pattern in UI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XCode Diagram - For Understanding</a:t>
            </a:r>
            <a:endParaRPr lang="en-US"/>
          </a:p>
        </p:txBody>
      </p:sp>
      <p:pic>
        <p:nvPicPr>
          <p:cNvPr id="4" name="Picture 3" descr="Screenshot 2026-02-12 at 4.39.0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580" y="1497965"/>
            <a:ext cx="7954645" cy="4845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Introduction to Storyboard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storyboard is a visual representation of the user interface of an IOS application , showing screens of content and the connections between those screens.</a:t>
            </a:r>
            <a:endParaRPr lang="en-US"/>
          </a:p>
          <a:p>
            <a:r>
              <a:rPr lang="en-US"/>
              <a:t>a storyboard is a Sequence of scenes, each of which represents a view controller and its views.</a:t>
            </a:r>
            <a:endParaRPr lang="en-US"/>
          </a:p>
          <a:p>
            <a:r>
              <a:rPr lang="en-US"/>
              <a:t>scenes are connected by segue objects which represnts translation between two view controller.</a:t>
            </a:r>
            <a:endParaRPr lang="en-US"/>
          </a:p>
          <a:p>
            <a:r>
              <a:rPr lang="en-US"/>
              <a:t>all is working under an interface called “MainStoryboard.storyboard”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Visualization of Scene and Segua</a:t>
            </a:r>
            <a:endParaRPr lang="en-US"/>
          </a:p>
        </p:txBody>
      </p:sp>
      <p:pic>
        <p:nvPicPr>
          <p:cNvPr id="5" name="Picture 4" descr="Screenshot 2026-02-12 at 4.44.2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3480" y="1466215"/>
            <a:ext cx="6544310" cy="5254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Advantages and Disadvantages of Storyboard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Advantages : </a:t>
            </a:r>
            <a:endParaRPr lang="en-US"/>
          </a:p>
          <a:p>
            <a:pPr lvl="1"/>
            <a:r>
              <a:rPr lang="en-US"/>
              <a:t>better concaptual overiview of screens and connection between them.</a:t>
            </a:r>
            <a:endParaRPr lang="en-US"/>
          </a:p>
          <a:p>
            <a:pPr lvl="1"/>
            <a:r>
              <a:rPr lang="en-US"/>
              <a:t>describe transition between screens.</a:t>
            </a:r>
            <a:endParaRPr lang="en-US"/>
          </a:p>
          <a:p>
            <a:pPr lvl="1"/>
            <a:r>
              <a:rPr lang="en-US"/>
              <a:t>easy to work with table and new prototype and static cel feature.</a:t>
            </a:r>
            <a:endParaRPr lang="en-US"/>
          </a:p>
          <a:p>
            <a:pPr lvl="1"/>
            <a:r>
              <a:rPr lang="en-US"/>
              <a:t>also provides .xlibs if needed.</a:t>
            </a:r>
            <a:endParaRPr lang="en-US"/>
          </a:p>
          <a:p>
            <a:pPr lvl="0"/>
            <a:r>
              <a:rPr lang="en-US"/>
              <a:t>Disadvantages :</a:t>
            </a:r>
            <a:endParaRPr lang="en-US"/>
          </a:p>
          <a:p>
            <a:pPr lvl="1"/>
            <a:r>
              <a:rPr lang="en-US"/>
              <a:t>Need a big Moniter.</a:t>
            </a:r>
            <a:endParaRPr lang="en-US"/>
          </a:p>
          <a:p>
            <a:pPr lvl="1"/>
            <a:r>
              <a:rPr lang="en-US"/>
              <a:t>Obly Available in ios 5 and onwards.</a:t>
            </a:r>
            <a:endParaRPr lang="en-US"/>
          </a:p>
          <a:p>
            <a:pPr lvl="1"/>
            <a:r>
              <a:rPr lang="en-US"/>
              <a:t>Merges can be very difficult.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Interface Builder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1028045" cy="5011420"/>
          </a:xfrm>
        </p:spPr>
        <p:txBody>
          <a:bodyPr>
            <a:noAutofit/>
          </a:bodyPr>
          <a:p>
            <a:r>
              <a:rPr lang="en-US" sz="2600"/>
              <a:t>it is a tool that provides functionlity to eacy creation of UI Interface.</a:t>
            </a:r>
            <a:endParaRPr lang="en-US" sz="2600"/>
          </a:p>
          <a:p>
            <a:r>
              <a:rPr lang="en-US" sz="2600"/>
              <a:t>without writing any code the Interface builder provides simple way to create UI elements.</a:t>
            </a:r>
            <a:endParaRPr lang="en-US" sz="2600"/>
          </a:p>
          <a:p>
            <a:r>
              <a:rPr lang="en-US" sz="2600"/>
              <a:t>also Provides drag and drop features to any controller along with giving option the any Apple’s Device Canvas.</a:t>
            </a:r>
            <a:endParaRPr lang="en-US" sz="2600"/>
          </a:p>
          <a:p>
            <a:r>
              <a:rPr lang="en-US" sz="2600"/>
              <a:t>Becaue of Cocoa and Cocoa Touch Frameworks , it is easy to Create UI with MVC Pattern which is separating the implementation and UI Creation.</a:t>
            </a:r>
            <a:endParaRPr lang="en-US" sz="2600"/>
          </a:p>
          <a:p>
            <a:r>
              <a:rPr lang="en-US" sz="2600"/>
              <a:t>it is creating dynamic connection between UI and codd when app is running.</a:t>
            </a:r>
            <a:endParaRPr lang="en-US" sz="2600"/>
          </a:p>
          <a:p>
            <a:r>
              <a:rPr lang="en-US" sz="2600"/>
              <a:t>saved in . nlb extension. or .xib (because of cocoa and cocoa touch frameworks).</a:t>
            </a:r>
            <a:endParaRPr lang="en-US" sz="2600"/>
          </a:p>
          <a:p>
            <a:endParaRPr lang="en-US"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Usage of Interface Builder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Design screens visually</a:t>
            </a:r>
            <a:endParaRPr lang="en-US"/>
          </a:p>
          <a:p>
            <a:r>
              <a:rPr lang="en-US"/>
              <a:t>Add UI Components</a:t>
            </a:r>
            <a:endParaRPr lang="en-US"/>
          </a:p>
          <a:p>
            <a:pPr lvl="1"/>
            <a:r>
              <a:rPr lang="en-US"/>
              <a:t>like button, textfeild, Images, Tables</a:t>
            </a:r>
            <a:endParaRPr lang="en-US"/>
          </a:p>
          <a:p>
            <a:pPr lvl="0"/>
            <a:r>
              <a:rPr lang="en-US"/>
              <a:t>Set auto layout constraints</a:t>
            </a:r>
            <a:endParaRPr lang="en-US"/>
          </a:p>
          <a:p>
            <a:pPr lvl="0"/>
            <a:r>
              <a:rPr lang="en-US"/>
              <a:t>Connect Swift UI elements with code using IBOutlets and IBActions.</a:t>
            </a:r>
            <a:endParaRPr lang="en-US"/>
          </a:p>
          <a:p>
            <a:pPr lvl="0"/>
            <a:r>
              <a:rPr lang="en-US"/>
              <a:t>Preview UI on different screen size and devices.</a:t>
            </a:r>
            <a:endParaRPr lang="en-US"/>
          </a:p>
          <a:p>
            <a:pPr lvl="1"/>
            <a:r>
              <a:rPr lang="en-US"/>
              <a:t>Example : IPhone , IPad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Working Interface Builder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1. Selecting and Dragging the Control from Object Library</a:t>
            </a:r>
            <a:endParaRPr lang="en-US"/>
          </a:p>
          <a:p>
            <a:r>
              <a:rPr lang="en-US"/>
              <a:t>2. Place them on View Controller</a:t>
            </a:r>
            <a:endParaRPr lang="en-US"/>
          </a:p>
          <a:p>
            <a:r>
              <a:rPr lang="en-US"/>
              <a:t>3. Setting all Attributes.</a:t>
            </a:r>
            <a:endParaRPr lang="en-US"/>
          </a:p>
          <a:p>
            <a:pPr lvl="1"/>
            <a:r>
              <a:rPr lang="en-US"/>
              <a:t>like text, color, size, font</a:t>
            </a:r>
            <a:endParaRPr lang="en-US"/>
          </a:p>
          <a:p>
            <a:pPr lvl="0"/>
            <a:r>
              <a:rPr lang="en-US"/>
              <a:t>4. Adding constraint for respactive layouts</a:t>
            </a:r>
            <a:endParaRPr lang="en-US"/>
          </a:p>
          <a:p>
            <a:pPr lvl="0"/>
            <a:r>
              <a:rPr lang="en-US"/>
              <a:t>5. Conect UI elements to swift code.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Outlet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an outlet is a property of an object that references another object, the reference is archived through interface builder.</a:t>
            </a:r>
            <a:endParaRPr lang="en-US"/>
          </a:p>
          <a:p>
            <a:r>
              <a:rPr lang="en-US"/>
              <a:t>the connections between the containing object and it’s outlets are reestablished every time the containing object is unarchived from its nib file.</a:t>
            </a:r>
            <a:endParaRPr lang="en-US"/>
          </a:p>
          <a:p>
            <a:r>
              <a:rPr lang="en-US"/>
              <a:t>the containing object holds an outlet declared as a property with the type qualifier of IBOutlet.</a:t>
            </a:r>
            <a:endParaRPr lang="en-US"/>
          </a:p>
          <a:p>
            <a:r>
              <a:rPr lang="en-US"/>
              <a:t>It is more then simple property.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Syntax : IBOutlet and IBAction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syntax : @IBOutlet weak var nameLabel : UILabel!</a:t>
            </a:r>
            <a:endParaRPr lang="en-US"/>
          </a:p>
          <a:p>
            <a:r>
              <a:rPr lang="en-US"/>
              <a:t>note :  here weak is one the swift keyword which is used to avoid memory leaks.</a:t>
            </a:r>
            <a:endParaRPr lang="en-US"/>
          </a:p>
          <a:p>
            <a:endParaRPr lang="en-US"/>
          </a:p>
          <a:p>
            <a:r>
              <a:rPr lang="en-US"/>
              <a:t>syntax : @IBAction func buttonTapped(_sender : UIButton){</a:t>
            </a:r>
            <a:endParaRPr lang="en-US"/>
          </a:p>
          <a:p>
            <a:pPr lvl="1"/>
            <a:r>
              <a:rPr lang="en-US"/>
              <a:t>// code should goes here</a:t>
            </a:r>
            <a:endParaRPr lang="en-US"/>
          </a:p>
          <a:p>
            <a:pPr lvl="1"/>
            <a:r>
              <a:rPr lang="en-US"/>
              <a:t>}</a:t>
            </a:r>
            <a:endParaRPr lang="en-US"/>
          </a:p>
          <a:p>
            <a:pPr lvl="0"/>
            <a:r>
              <a:rPr lang="en-US"/>
              <a:t>_sender is the passes the reference of the control which send the action to fucntion and performs specific operation.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Introduction UIView, UIController, UIWindow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they are the core component of UIKit Framework, each serving it’s own functionlity for User Interface and managing it’s working / process flow.</a:t>
            </a:r>
            <a:endParaRPr lang="en-US"/>
          </a:p>
          <a:p>
            <a:r>
              <a:rPr lang="en-US"/>
              <a:t>UIView :</a:t>
            </a:r>
            <a:endParaRPr lang="en-US"/>
          </a:p>
          <a:p>
            <a:pPr lvl="1"/>
            <a:r>
              <a:rPr lang="en-US"/>
              <a:t>basic building block for visual element of screen.</a:t>
            </a:r>
            <a:endParaRPr lang="en-US"/>
          </a:p>
          <a:p>
            <a:pPr lvl="1"/>
            <a:r>
              <a:rPr lang="en-US"/>
              <a:t>it is rectangular area that handles drawing content, layout, and user touch interactions.</a:t>
            </a:r>
            <a:endParaRPr lang="en-US"/>
          </a:p>
          <a:p>
            <a:pPr lvl="2"/>
            <a:r>
              <a:rPr lang="en-US"/>
              <a:t>for an example UIButton, UILabel, UImageView.(all are the subclasses of UIView)</a:t>
            </a:r>
            <a:endParaRPr lang="en-US"/>
          </a:p>
          <a:p>
            <a:pPr lvl="1"/>
            <a:r>
              <a:rPr lang="en-US"/>
              <a:t>all views are working in hierachical manner where one view is acting as a base view(superview) for another(subview).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Introduction UIView, UIController, UIWindow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UIWindow : </a:t>
            </a:r>
            <a:endParaRPr lang="en-US" altLang="en-US"/>
          </a:p>
          <a:p>
            <a:pPr lvl="0"/>
            <a:r>
              <a:rPr lang="en-US" altLang="en-US"/>
              <a:t>A specialized subclass of UIView that provides the backdrop for an app's user interface. </a:t>
            </a:r>
            <a:endParaRPr lang="en-US" altLang="en-US"/>
          </a:p>
          <a:p>
            <a:r>
              <a:rPr lang="en-US" altLang="en-US"/>
              <a:t>It acts as the primary container for all of the application's views and is responsible for dispatching events (like touches) to the appropriate views. </a:t>
            </a:r>
            <a:endParaRPr lang="en-US" altLang="en-US"/>
          </a:p>
          <a:p>
            <a:r>
              <a:rPr lang="en-US" altLang="en-US"/>
              <a:t>A typical iOS app has one main UIWindow, which is created when the app launches and made visible using the makeKeyAndVisible() method.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Introduction UIView, UIController, UIWindow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UIViewController : An object that manages a single screen or a portion of he user interface. </a:t>
            </a:r>
            <a:endParaRPr lang="en-US" altLang="en-US"/>
          </a:p>
          <a:p>
            <a:r>
              <a:rPr lang="en-US" altLang="en-US"/>
              <a:t>It acts as the coordinator between the app's data (Model) and its visual representation (View) in the Model-View-Controller (MVC) design pattern. </a:t>
            </a:r>
            <a:endParaRPr lang="en-US" altLang="en-US"/>
          </a:p>
          <a:p>
            <a:r>
              <a:rPr lang="en-US" altLang="en-US"/>
              <a:t>A UIViewController is not a view itself but has a view property (which is a UIView) that becomes part of the UIWindow's view hierarchy. </a:t>
            </a:r>
            <a:endParaRPr lang="en-US" altLang="en-US"/>
          </a:p>
          <a:p>
            <a:r>
              <a:rPr lang="en-US" altLang="en-US"/>
              <a:t>It handles the logic, state management, and transitions between different screens, as well as responding to lifecycle events like viewDidLoad and viewWillAppear.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Introduction UIView, UIController, UIWindow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they are the core component of UIKit Framework, each serving it’s own functionlity for User Interface and managing it’s working / process flow.</a:t>
            </a:r>
            <a:endParaRPr lang="en-US"/>
          </a:p>
          <a:p>
            <a:r>
              <a:rPr lang="en-US"/>
              <a:t>UIView :</a:t>
            </a:r>
            <a:endParaRPr lang="en-US"/>
          </a:p>
          <a:p>
            <a:pPr lvl="1"/>
            <a:r>
              <a:rPr lang="en-US"/>
              <a:t>basic building block for visual element of screen.</a:t>
            </a:r>
            <a:endParaRPr lang="en-US"/>
          </a:p>
          <a:p>
            <a:pPr lvl="1"/>
            <a:r>
              <a:rPr lang="en-US"/>
              <a:t>it is rectangular area that handles drawing content, layout, and user touch interactions.</a:t>
            </a:r>
            <a:endParaRPr lang="en-US"/>
          </a:p>
          <a:p>
            <a:pPr lvl="2"/>
            <a:r>
              <a:rPr lang="en-US"/>
              <a:t>for an example UIButton, UILabel, UImageView.(all are the subclasses of UIView)</a:t>
            </a:r>
            <a:endParaRPr lang="en-US"/>
          </a:p>
          <a:p>
            <a:pPr lvl="1"/>
            <a:r>
              <a:rPr lang="en-US"/>
              <a:t>all views are working in hierachical manner where one view is acting as a base view(superview) for another(subview).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Introduction UIView, UIController, UIWindow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UIWindow : </a:t>
            </a:r>
            <a:endParaRPr lang="en-US" altLang="en-US"/>
          </a:p>
          <a:p>
            <a:pPr lvl="0"/>
            <a:r>
              <a:rPr lang="en-US" altLang="en-US"/>
              <a:t>A specialized subclass of UIView that provides the backdrop for an app's user interface. </a:t>
            </a:r>
            <a:endParaRPr lang="en-US" altLang="en-US"/>
          </a:p>
          <a:p>
            <a:r>
              <a:rPr lang="en-US" altLang="en-US"/>
              <a:t>It acts as the primary container for all of the application's views and is responsible for dispatching events (like touches) to the appropriate views. </a:t>
            </a:r>
            <a:endParaRPr lang="en-US" altLang="en-US"/>
          </a:p>
          <a:p>
            <a:r>
              <a:rPr lang="en-US" altLang="en-US"/>
              <a:t>A typical iOS app has one main UIWindow, which is created when the app launches and made visible using the makeKeyAndVisible() method.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Introduction UIView, UIController, UIWindow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UIViewController : An object that manages a single screen or a portion of he user interface. </a:t>
            </a:r>
            <a:endParaRPr lang="en-US" altLang="en-US"/>
          </a:p>
          <a:p>
            <a:r>
              <a:rPr lang="en-US" altLang="en-US"/>
              <a:t>It acts as the coordinator between the app's data (Model) and its visual representation (View) in the Model-View-Controller (MVC) design pattern. </a:t>
            </a:r>
            <a:endParaRPr lang="en-US" altLang="en-US"/>
          </a:p>
          <a:p>
            <a:r>
              <a:rPr lang="en-US" altLang="en-US"/>
              <a:t>A UIViewController is not a view itself but has a view property (which is a UIView) that becomes part of the UIWindow's view hierarchy. </a:t>
            </a:r>
            <a:endParaRPr lang="en-US" altLang="en-US"/>
          </a:p>
          <a:p>
            <a:r>
              <a:rPr lang="en-US" altLang="en-US"/>
              <a:t>It handles the logic, state management, and transitions between different screens, as well as responding to lifecycle events like viewDidLoad and viewWillAppear.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Windows and Views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Assume the screen of IPhone, so let’s understand the concept of window and Views</a:t>
            </a:r>
            <a:endParaRPr lang="en-US"/>
          </a:p>
          <a:p>
            <a:r>
              <a:rPr lang="en-US"/>
              <a:t>window : whole screen container</a:t>
            </a:r>
            <a:endParaRPr lang="en-US"/>
          </a:p>
          <a:p>
            <a:r>
              <a:rPr lang="en-US"/>
              <a:t>views : everything you see inside it.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Window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main container for our entire app UI.</a:t>
            </a:r>
            <a:endParaRPr lang="en-US"/>
          </a:p>
          <a:p>
            <a:r>
              <a:rPr lang="en-US"/>
              <a:t>basically do not haave any visible content themselves but provide a basic container for application’s view.</a:t>
            </a:r>
            <a:endParaRPr lang="en-US"/>
          </a:p>
          <a:p>
            <a:r>
              <a:rPr lang="en-US"/>
              <a:t>Every application has at least one window and one view per window for presenting it’s content.</a:t>
            </a:r>
            <a:endParaRPr lang="en-US"/>
          </a:p>
          <a:p>
            <a:r>
              <a:rPr lang="en-US" altLang="en-US" b="1"/>
              <a:t>points to be remember :</a:t>
            </a:r>
            <a:endParaRPr lang="en-US" altLang="en-US"/>
          </a:p>
          <a:p>
            <a:r>
              <a:rPr lang="en-US" altLang="en-US"/>
              <a:t>covers full screen</a:t>
            </a:r>
            <a:endParaRPr lang="en-US" altLang="en-US"/>
          </a:p>
          <a:p>
            <a:r>
              <a:rPr lang="en-US" altLang="en-US"/>
              <a:t>holds root view controller</a:t>
            </a:r>
            <a:endParaRPr lang="en-US" altLang="en-US"/>
          </a:p>
          <a:p>
            <a:r>
              <a:rPr lang="en-US" altLang="en-US"/>
              <a:t>displays everything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Window : IPhone Visualization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617085" cy="4351655"/>
          </a:xfrm>
        </p:spPr>
        <p:txBody>
          <a:bodyPr/>
          <a:p>
            <a:r>
              <a:rPr lang="en-US" altLang="en-US"/>
              <a:t>Window which must contains one View or Empty View.</a:t>
            </a:r>
            <a:endParaRPr lang="en-US" altLang="en-US"/>
          </a:p>
          <a:p>
            <a:r>
              <a:rPr lang="en-US" altLang="en-US"/>
              <a:t>It can be having multiple view as well</a:t>
            </a:r>
            <a:endParaRPr lang="en-US" altLang="en-US"/>
          </a:p>
        </p:txBody>
      </p:sp>
      <p:pic>
        <p:nvPicPr>
          <p:cNvPr id="4" name="Picture 3" descr="Screenshot 2026-02-12 at 7.28.11 PM"/>
          <p:cNvPicPr>
            <a:picLocks noChangeAspect="1"/>
          </p:cNvPicPr>
          <p:nvPr/>
        </p:nvPicPr>
        <p:blipFill>
          <a:blip r:embed="rId1"/>
          <a:srcRect l="17099" t="4387" r="13642" b="2913"/>
          <a:stretch>
            <a:fillRect/>
          </a:stretch>
        </p:blipFill>
        <p:spPr>
          <a:xfrm>
            <a:off x="6541770" y="1825625"/>
            <a:ext cx="5215890" cy="47898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: Creating a Window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var window: UIWindow?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window = UIWindow(frame: UIScreen.main.bounds)</a:t>
            </a:r>
            <a:endParaRPr lang="en-US" altLang="en-US"/>
          </a:p>
          <a:p>
            <a:r>
              <a:rPr lang="en-US" altLang="en-US"/>
              <a:t>window?.rootViewController = ViewController()</a:t>
            </a:r>
            <a:endParaRPr lang="en-US" altLang="en-US"/>
          </a:p>
          <a:p>
            <a:r>
              <a:rPr lang="en-US" altLang="en-US"/>
              <a:t>window?.makeKeyAndVisible()</a:t>
            </a: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Working/ Process of Window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create window</a:t>
            </a:r>
            <a:endParaRPr lang="en-US" altLang="en-US"/>
          </a:p>
          <a:p>
            <a:r>
              <a:rPr lang="en-US" altLang="en-US"/>
              <a:t>attach root VC</a:t>
            </a:r>
            <a:endParaRPr lang="en-US" altLang="en-US"/>
          </a:p>
          <a:p>
            <a:r>
              <a:rPr lang="en-US" altLang="en-US"/>
              <a:t>show it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Run → app visible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Views (UIView)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refers to any visible UI Element.</a:t>
            </a:r>
            <a:endParaRPr lang="en-US"/>
          </a:p>
          <a:p>
            <a:r>
              <a:rPr lang="en-US"/>
              <a:t>Example : </a:t>
            </a:r>
            <a:endParaRPr lang="en-US"/>
          </a:p>
          <a:p>
            <a:pPr lvl="1"/>
            <a:r>
              <a:rPr lang="en-US"/>
              <a:t>button</a:t>
            </a:r>
            <a:endParaRPr lang="en-US"/>
          </a:p>
          <a:p>
            <a:pPr lvl="1"/>
            <a:r>
              <a:rPr lang="en-US"/>
              <a:t>textbox</a:t>
            </a:r>
            <a:endParaRPr lang="en-US"/>
          </a:p>
          <a:p>
            <a:pPr lvl="1"/>
            <a:r>
              <a:rPr lang="en-US"/>
              <a:t>image</a:t>
            </a:r>
            <a:endParaRPr lang="en-US"/>
          </a:p>
          <a:p>
            <a:pPr lvl="1"/>
            <a:r>
              <a:rPr lang="en-US"/>
              <a:t>custom view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let button  = UIButton()</a:t>
            </a:r>
            <a:endParaRPr lang="en-US"/>
          </a:p>
          <a:p>
            <a:pPr lvl="1"/>
            <a:r>
              <a:rPr lang="en-US"/>
              <a:t>view.addSubview(button)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Views (UIView)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Basically all the basic UI Element is provided by UIKit library.</a:t>
            </a:r>
            <a:endParaRPr lang="en-US"/>
          </a:p>
          <a:p>
            <a:r>
              <a:rPr lang="en-US"/>
              <a:t>Views Manage Application’s Visual Content :</a:t>
            </a:r>
            <a:endParaRPr lang="en-US"/>
          </a:p>
          <a:p>
            <a:pPr lvl="1"/>
            <a:r>
              <a:rPr lang="en-US"/>
              <a:t>a view is an instance of the UIView class and manages a rectangular area in application window.</a:t>
            </a:r>
            <a:endParaRPr lang="en-US"/>
          </a:p>
          <a:p>
            <a:pPr lvl="1"/>
            <a:r>
              <a:rPr lang="en-US"/>
              <a:t>Views are responsible for :</a:t>
            </a:r>
            <a:endParaRPr lang="en-US"/>
          </a:p>
          <a:p>
            <a:pPr lvl="2"/>
            <a:r>
              <a:rPr lang="en-US"/>
              <a:t>Drawing content</a:t>
            </a:r>
            <a:endParaRPr lang="en-US"/>
          </a:p>
          <a:p>
            <a:pPr lvl="2"/>
            <a:r>
              <a:rPr lang="en-US"/>
              <a:t>handling multitouch events</a:t>
            </a:r>
            <a:endParaRPr lang="en-US"/>
          </a:p>
          <a:p>
            <a:pPr lvl="2"/>
            <a:r>
              <a:rPr lang="en-US"/>
              <a:t>managing the layout of any subviews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View Work Flow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Window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Root View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StackView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Button / Label / Image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Analogy to understand the View flow - ChatGPT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53440" y="1823720"/>
          <a:ext cx="10485120" cy="25552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5242560"/>
                <a:gridCol w="5242560"/>
              </a:tblGrid>
              <a:tr h="638810">
                <a:tc>
                  <a:txBody>
                    <a:bodyPr/>
                    <a:p>
                      <a:pPr algn="ctr"/>
                      <a:r>
                        <a:rPr sz="2800" b="1" u="sng"/>
                        <a:t>Real life</a:t>
                      </a:r>
                      <a:endParaRPr sz="2800" b="1" u="sng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800" b="1" u="sng"/>
                        <a:t>iOS</a:t>
                      </a:r>
                      <a:endParaRPr sz="2800" b="1" u="sng"/>
                    </a:p>
                  </a:txBody>
                  <a:tcPr marL="0" marR="0" marT="0" marB="0" anchor="ctr" anchorCtr="0"/>
                </a:tc>
              </a:tr>
              <a:tr h="638810">
                <a:tc>
                  <a:txBody>
                    <a:bodyPr/>
                    <a:p>
                      <a:pPr algn="ctr"/>
                      <a:r>
                        <a:rPr sz="2800"/>
                        <a:t>Land</a:t>
                      </a:r>
                      <a:endParaRPr sz="2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800"/>
                        <a:t>Window</a:t>
                      </a:r>
                      <a:endParaRPr sz="2800"/>
                    </a:p>
                  </a:txBody>
                  <a:tcPr marL="0" marR="0" marT="0" marB="0" anchor="ctr" anchorCtr="0"/>
                </a:tc>
              </a:tr>
              <a:tr h="638810">
                <a:tc>
                  <a:txBody>
                    <a:bodyPr/>
                    <a:p>
                      <a:pPr algn="ctr"/>
                      <a:r>
                        <a:rPr sz="2800"/>
                        <a:t>Rooms</a:t>
                      </a:r>
                      <a:endParaRPr sz="2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800"/>
                        <a:t>Views</a:t>
                      </a:r>
                      <a:endParaRPr sz="2800"/>
                    </a:p>
                  </a:txBody>
                  <a:tcPr marL="0" marR="0" marT="0" marB="0" anchor="ctr" anchorCtr="0"/>
                </a:tc>
              </a:tr>
              <a:tr h="638810">
                <a:tc>
                  <a:txBody>
                    <a:bodyPr/>
                    <a:p>
                      <a:pPr algn="ctr"/>
                      <a:r>
                        <a:rPr sz="2800"/>
                        <a:t>Furniture</a:t>
                      </a:r>
                      <a:endParaRPr sz="2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800"/>
                        <a:t>Subviews</a:t>
                      </a:r>
                      <a:endParaRPr sz="2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Adding and Removing Subviews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Interface Builder is the most convenient way to build view hierarchies.</a:t>
            </a:r>
            <a:endParaRPr lang="en-US"/>
          </a:p>
          <a:p>
            <a:r>
              <a:rPr lang="en-US"/>
              <a:t>it can assemble your views graphically, create the relationships between the views, and see exactly how those views will appear at runtime.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MVC Pattern in UI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MVC refers to Model, View and Controller respectivly.</a:t>
            </a:r>
            <a:endParaRPr lang="en-US"/>
          </a:p>
          <a:p>
            <a:r>
              <a:rPr lang="en-US"/>
              <a:t>Let’s Understand it with an Analogy</a:t>
            </a:r>
            <a:endParaRPr lang="en-US"/>
          </a:p>
          <a:p>
            <a:pPr lvl="1"/>
            <a:r>
              <a:rPr lang="en-US"/>
              <a:t>M  = Model == Data</a:t>
            </a:r>
            <a:endParaRPr lang="en-US"/>
          </a:p>
          <a:p>
            <a:pPr lvl="1"/>
            <a:r>
              <a:rPr lang="en-US"/>
              <a:t>V = View == UI</a:t>
            </a:r>
            <a:endParaRPr lang="en-US"/>
          </a:p>
          <a:p>
            <a:pPr lvl="1"/>
            <a:r>
              <a:rPr lang="en-US"/>
              <a:t>C = Controller == Logic/Brain</a:t>
            </a:r>
            <a:endParaRPr lang="en-US"/>
          </a:p>
          <a:p>
            <a:pPr lvl="0"/>
            <a:r>
              <a:rPr lang="en-US"/>
              <a:t>we will understand each one by one!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MVC working Diagram</a:t>
            </a:r>
            <a:endParaRPr lang="en-US"/>
          </a:p>
        </p:txBody>
      </p:sp>
      <p:pic>
        <p:nvPicPr>
          <p:cNvPr id="4" name="Picture 3" descr="Screenshot 2026-02-12 at 8.16.42 PM"/>
          <p:cNvPicPr>
            <a:picLocks noChangeAspect="1"/>
          </p:cNvPicPr>
          <p:nvPr/>
        </p:nvPicPr>
        <p:blipFill>
          <a:blip r:embed="rId1"/>
          <a:srcRect r="2412" b="1561"/>
          <a:stretch>
            <a:fillRect/>
          </a:stretch>
        </p:blipFill>
        <p:spPr>
          <a:xfrm>
            <a:off x="4030980" y="1825625"/>
            <a:ext cx="3854450" cy="452564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1. Model in Swift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Basically, model is storing data or basinuess logic on which actually the application will performs an operations.</a:t>
            </a:r>
            <a:endParaRPr lang="en-US"/>
          </a:p>
          <a:p>
            <a:r>
              <a:rPr lang="en-US"/>
              <a:t>user interface stuff should not go here.</a:t>
            </a:r>
            <a:endParaRPr lang="en-US"/>
          </a:p>
          <a:p>
            <a:r>
              <a:rPr lang="en-US"/>
              <a:t>Examples : </a:t>
            </a:r>
            <a:endParaRPr lang="en-US"/>
          </a:p>
          <a:p>
            <a:pPr lvl="1"/>
            <a:r>
              <a:rPr lang="en-US"/>
              <a:t>API Definition</a:t>
            </a:r>
            <a:endParaRPr lang="en-US"/>
          </a:p>
          <a:p>
            <a:pPr lvl="1"/>
            <a:r>
              <a:rPr lang="en-US"/>
              <a:t>Database / CoreData / SQLite models</a:t>
            </a:r>
            <a:endParaRPr lang="en-US"/>
          </a:p>
          <a:p>
            <a:pPr lvl="1"/>
            <a:r>
              <a:rPr lang="en-US"/>
              <a:t>Repos and interfaces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2. 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View refers UI Component.</a:t>
            </a:r>
            <a:endParaRPr lang="en-US"/>
          </a:p>
          <a:p>
            <a:r>
              <a:rPr lang="en-US"/>
              <a:t>Example :</a:t>
            </a:r>
            <a:endParaRPr lang="en-US"/>
          </a:p>
          <a:p>
            <a:pPr lvl="1"/>
            <a:r>
              <a:rPr lang="en-US"/>
              <a:t>Button</a:t>
            </a:r>
            <a:endParaRPr lang="en-US"/>
          </a:p>
          <a:p>
            <a:pPr lvl="1"/>
            <a:r>
              <a:rPr lang="en-US"/>
              <a:t>Textfeild</a:t>
            </a:r>
            <a:endParaRPr lang="en-US"/>
          </a:p>
          <a:p>
            <a:pPr lvl="1"/>
            <a:r>
              <a:rPr lang="en-US"/>
              <a:t>ImageView</a:t>
            </a:r>
            <a:endParaRPr lang="en-US"/>
          </a:p>
          <a:p>
            <a:pPr lvl="1"/>
            <a:r>
              <a:rPr lang="en-US"/>
              <a:t>Label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3. Controller - The Brain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connects Model + View</a:t>
            </a:r>
            <a:endParaRPr lang="en-US" altLang="en-US"/>
          </a:p>
          <a:p>
            <a:r>
              <a:rPr lang="en-US" altLang="en-US"/>
              <a:t>handles user actions</a:t>
            </a:r>
            <a:endParaRPr lang="en-US" altLang="en-US"/>
          </a:p>
          <a:p>
            <a:r>
              <a:rPr lang="en-US" altLang="en-US"/>
              <a:t>updates UI</a:t>
            </a:r>
            <a:endParaRPr lang="en-US" altLang="en-US"/>
          </a:p>
          <a:p>
            <a:r>
              <a:rPr lang="en-US" altLang="en-US"/>
              <a:t>updates data</a:t>
            </a: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: Controller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class ViewController: UIViewController {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var user = User(name: "Suratwala", age: 21)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@IBOutlet weak var nameLabel: UILabel!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override func viewDidLoad() {</a:t>
            </a:r>
            <a:endParaRPr lang="en-US" altLang="en-US"/>
          </a:p>
          <a:p>
            <a:r>
              <a:rPr lang="en-US" altLang="en-US"/>
              <a:t>        super.viewDidLoad()</a:t>
            </a:r>
            <a:endParaRPr lang="en-US" altLang="en-US"/>
          </a:p>
          <a:p>
            <a:r>
              <a:rPr lang="en-US" altLang="en-US"/>
              <a:t>        nameLabel.text = user.name</a:t>
            </a:r>
            <a:endParaRPr lang="en-US" altLang="en-US"/>
          </a:p>
          <a:p>
            <a:r>
              <a:rPr lang="en-US" altLang="en-US"/>
              <a:t>    }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Overall MVC Flow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User taps button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Controller handles action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Model updates data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Controller refreshes View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UI updates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8755</Words>
  <Application>WPS Presentation</Application>
  <PresentationFormat>Widescreen</PresentationFormat>
  <Paragraphs>289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Apple Color Emoji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Introduction UIView, UIController, UIWindow</vt:lpstr>
      <vt:lpstr>Introduction UIView, UIController, UIWindow</vt:lpstr>
      <vt:lpstr>Introduction UIView, UIController, UIWindow</vt:lpstr>
      <vt:lpstr>Introduction UIView, UIController, UIWindow</vt:lpstr>
      <vt:lpstr>Introduction UIView, UIController, UIWindow</vt:lpstr>
      <vt:lpstr>Introduction UIView, UIController, UIWindow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suratwalavraj</dc:creator>
  <cp:lastModifiedBy>suratwalavraj</cp:lastModifiedBy>
  <cp:revision>14</cp:revision>
  <dcterms:created xsi:type="dcterms:W3CDTF">2026-02-12T14:51:09Z</dcterms:created>
  <dcterms:modified xsi:type="dcterms:W3CDTF">2026-02-12T14:51:09Z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006B0C7396E6C5AB87B08D692FD60201_41</vt:lpwstr>
  </property>
  <property fmtid="{D5CDD505-2E9C-101B-9397-08002B2CF9AE}" pid="3" name="KSOProductBuildVer">
    <vt:lpwstr>1033-12.1.23155.23155</vt:lpwstr>
  </property>
</Properties>
</file>