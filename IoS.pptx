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2" Type="http://schemas.openxmlformats.org/officeDocument/2006/relationships/tableStyles" Target="tableStyles.xml"/><Relationship Id="rId51" Type="http://schemas.openxmlformats.org/officeDocument/2006/relationships/viewProps" Target="viewProps.xml"/><Relationship Id="rId50" Type="http://schemas.openxmlformats.org/officeDocument/2006/relationships/presProps" Target="presProps.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t>IoS - iphone Operating System</a:t>
            </a:r>
            <a:endParaRPr lang="en-US"/>
          </a:p>
        </p:txBody>
      </p:sp>
      <p:sp>
        <p:nvSpPr>
          <p:cNvPr id="3" name="Subtitle 2"/>
          <p:cNvSpPr>
            <a:spLocks noGrp="1"/>
          </p:cNvSpPr>
          <p:nvPr>
            <p:ph type="subTitle" idx="1"/>
          </p:nvPr>
        </p:nvSpPr>
        <p:spPr/>
        <p:txBody>
          <a:bodyPr/>
          <a:p>
            <a:r>
              <a:rPr lang="en-US"/>
              <a:t>Basics of Ios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an Ios ?</a:t>
            </a:r>
            <a:endParaRPr lang="en-US"/>
          </a:p>
        </p:txBody>
      </p:sp>
      <p:sp>
        <p:nvSpPr>
          <p:cNvPr id="3" name="Content Placeholder 2"/>
          <p:cNvSpPr>
            <a:spLocks noGrp="1"/>
          </p:cNvSpPr>
          <p:nvPr>
            <p:ph idx="1"/>
          </p:nvPr>
        </p:nvSpPr>
        <p:spPr/>
        <p:txBody>
          <a:bodyPr/>
          <a:p>
            <a:r>
              <a:rPr lang="en-US" altLang="en-US"/>
              <a:t>Swift is general purpose, object and protocol oriented programming language which is developed by Apple Inc. for iPad, iPhone, macOS, WatchOS, tvOS and etc. to build Apple products.</a:t>
            </a:r>
            <a:endParaRPr lang="en-US" altLang="en-US"/>
          </a:p>
          <a:p>
            <a:r>
              <a:rPr lang="en-US" altLang="en-US"/>
              <a:t>designed to work with Apple’s Coca and Coca Touch frameworks and it supports the fundamental concepts of Objective C like multithreading, optional chaining, late binding and some more features.</a:t>
            </a:r>
            <a:endParaRPr lang="en-US" altLang="en-US"/>
          </a:p>
          <a:p>
            <a:r>
              <a:rPr lang="en-US" altLang="en-US"/>
              <a:t>In swift, Apple Added New Features like autometic memory management, protocols and introduced the protocol oriented language.</a:t>
            </a:r>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Features of Swift</a:t>
            </a:r>
            <a:endParaRPr lang="en-US"/>
          </a:p>
        </p:txBody>
      </p:sp>
      <p:sp>
        <p:nvSpPr>
          <p:cNvPr id="3" name="Content Placeholder 2"/>
          <p:cNvSpPr>
            <a:spLocks noGrp="1"/>
          </p:cNvSpPr>
          <p:nvPr>
            <p:ph idx="1"/>
          </p:nvPr>
        </p:nvSpPr>
        <p:spPr/>
        <p:txBody>
          <a:bodyPr/>
          <a:p>
            <a:r>
              <a:rPr lang="en-US"/>
              <a:t>Easy Syntax</a:t>
            </a:r>
            <a:endParaRPr lang="en-US"/>
          </a:p>
          <a:p>
            <a:r>
              <a:rPr lang="en-US"/>
              <a:t>No Need to Give a Semicolon</a:t>
            </a:r>
            <a:endParaRPr lang="en-US"/>
          </a:p>
          <a:p>
            <a:r>
              <a:rPr lang="en-US"/>
              <a:t>Automatic Memory Management</a:t>
            </a:r>
            <a:endParaRPr lang="en-US"/>
          </a:p>
          <a:p>
            <a:r>
              <a:rPr lang="en-US" altLang="en-US"/>
              <a:t>Real Time Output Swift Programming Language include the playground feature which will help you to write the code and don’t need to run the code separately,  automatically it will compile the code and shows the result.</a:t>
            </a:r>
            <a:endParaRPr lang="en-US" altLang="en-US"/>
          </a:p>
          <a:p>
            <a:r>
              <a:rPr lang="en-US" altLang="en-US"/>
              <a:t>Similar with the Scripting Language.</a:t>
            </a:r>
            <a:endParaRPr lang="en-US" altLang="en-US"/>
          </a:p>
          <a:p>
            <a:r>
              <a:rPr lang="en-US" altLang="en-US"/>
              <a:t>Also supports the extension,  protocols and methods. </a:t>
            </a:r>
            <a:endParaRPr lang="en-US" altLang="en-US"/>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What is the Meaning of Type-Safety in ios ?</a:t>
            </a:r>
            <a:endParaRPr lang="en-US"/>
          </a:p>
        </p:txBody>
      </p:sp>
      <p:sp>
        <p:nvSpPr>
          <p:cNvPr id="3" name="Content Placeholder 2"/>
          <p:cNvSpPr>
            <a:spLocks noGrp="1"/>
          </p:cNvSpPr>
          <p:nvPr>
            <p:ph idx="1"/>
          </p:nvPr>
        </p:nvSpPr>
        <p:spPr/>
        <p:txBody>
          <a:bodyPr/>
          <a:p>
            <a:r>
              <a:rPr lang="en-US"/>
              <a:t>Swift is a type-safe programming language means, it will help you to identify what type of values required to work with the code.</a:t>
            </a:r>
            <a:endParaRPr lang="en-US"/>
          </a:p>
          <a:p>
            <a:r>
              <a:rPr lang="en-US"/>
              <a:t>let say for an instance, we are passing an ‘int’ value and code needs the data in ‘string’ format, in this kind of cases swift will prevent us to send this kind of invalid data with invalid datatype.</a:t>
            </a:r>
            <a:endParaRPr lang="en-US"/>
          </a:p>
          <a:p>
            <a:r>
              <a:rPr lang="en-US"/>
              <a:t>Let’s think, where to write this code now ? so let’s understand that......</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Playground</a:t>
            </a:r>
            <a:endParaRPr lang="en-US"/>
          </a:p>
        </p:txBody>
      </p:sp>
      <p:sp>
        <p:nvSpPr>
          <p:cNvPr id="5" name="Content Placeholder 4"/>
          <p:cNvSpPr/>
          <p:nvPr>
            <p:ph idx="1"/>
          </p:nvPr>
        </p:nvSpPr>
        <p:spPr/>
        <p:txBody>
          <a:bodyPr/>
          <a:p>
            <a:r>
              <a:rPr lang="en-US"/>
              <a:t>Playground contains main five components.</a:t>
            </a:r>
            <a:endParaRPr lang="en-US"/>
          </a:p>
          <a:p>
            <a:pPr lvl="1"/>
            <a:r>
              <a:rPr lang="en-US"/>
              <a:t>1. Activity Viewer.</a:t>
            </a:r>
            <a:endParaRPr lang="en-US"/>
          </a:p>
          <a:p>
            <a:pPr lvl="1"/>
            <a:r>
              <a:rPr lang="en-US"/>
              <a:t>2. Panel Control</a:t>
            </a:r>
            <a:endParaRPr lang="en-US"/>
          </a:p>
          <a:p>
            <a:pPr lvl="1"/>
            <a:r>
              <a:rPr lang="en-US"/>
              <a:t>3. Result Bar</a:t>
            </a:r>
            <a:endParaRPr lang="en-US"/>
          </a:p>
          <a:p>
            <a:pPr lvl="1"/>
            <a:r>
              <a:rPr lang="en-US"/>
              <a:t>4. Source Editor</a:t>
            </a:r>
            <a:endParaRPr lang="en-US"/>
          </a:p>
          <a:p>
            <a:pPr lvl="1"/>
            <a:r>
              <a:rPr lang="en-US"/>
              <a:t>5. Execution Control</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Playground - Visual Components</a:t>
            </a:r>
            <a:endParaRPr lang="en-US"/>
          </a:p>
        </p:txBody>
      </p:sp>
      <p:pic>
        <p:nvPicPr>
          <p:cNvPr id="4" name="Content Placeholder 3"/>
          <p:cNvPicPr>
            <a:picLocks noChangeAspect="1"/>
          </p:cNvPicPr>
          <p:nvPr>
            <p:ph idx="1"/>
          </p:nvPr>
        </p:nvPicPr>
        <p:blipFill>
          <a:blip r:embed="rId1"/>
          <a:stretch>
            <a:fillRect/>
          </a:stretch>
        </p:blipFill>
        <p:spPr>
          <a:xfrm>
            <a:off x="2886075" y="1758315"/>
            <a:ext cx="6186805" cy="43516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Playground</a:t>
            </a:r>
            <a:endParaRPr lang="en-US"/>
          </a:p>
        </p:txBody>
      </p:sp>
      <p:sp>
        <p:nvSpPr>
          <p:cNvPr id="3" name="Content Placeholder 2"/>
          <p:cNvSpPr>
            <a:spLocks noGrp="1"/>
          </p:cNvSpPr>
          <p:nvPr>
            <p:ph idx="1"/>
          </p:nvPr>
        </p:nvSpPr>
        <p:spPr>
          <a:xfrm>
            <a:off x="838200" y="1526540"/>
            <a:ext cx="10708005" cy="4699000"/>
          </a:xfrm>
        </p:spPr>
        <p:txBody>
          <a:bodyPr>
            <a:noAutofit/>
          </a:bodyPr>
          <a:p>
            <a:r>
              <a:rPr lang="en-US" altLang="en-US" sz="2400"/>
              <a:t>Activity Viewer  </a:t>
            </a:r>
            <a:endParaRPr lang="en-US" altLang="en-US" sz="2400"/>
          </a:p>
          <a:p>
            <a:pPr lvl="1"/>
            <a:r>
              <a:rPr lang="en-US" altLang="en-US" sz="2000"/>
              <a:t>Displays the current activity or process. It helps track what’s happening in real time.</a:t>
            </a:r>
            <a:endParaRPr lang="en-US" altLang="en-US" sz="2000"/>
          </a:p>
          <a:p>
            <a:pPr lvl="0"/>
            <a:r>
              <a:rPr lang="en-US" altLang="en-US" sz="2400"/>
              <a:t>Panel Control  </a:t>
            </a:r>
            <a:endParaRPr lang="en-US" altLang="en-US" sz="2400"/>
          </a:p>
          <a:p>
            <a:pPr lvl="1"/>
            <a:r>
              <a:rPr lang="en-US" altLang="en-US" sz="2000"/>
              <a:t>Provides options to configure or adjust settings. Think of it as the control hub for toggling features or layouts.</a:t>
            </a:r>
            <a:endParaRPr lang="en-US" altLang="en-US" sz="2000"/>
          </a:p>
          <a:p>
            <a:pPr lvl="0"/>
            <a:r>
              <a:rPr lang="en-US" altLang="en-US" sz="2400"/>
              <a:t>Result Bar  </a:t>
            </a:r>
            <a:endParaRPr lang="en-US" altLang="en-US" sz="2400"/>
          </a:p>
          <a:p>
            <a:pPr lvl="1"/>
            <a:r>
              <a:rPr lang="en-US" altLang="en-US" sz="2000"/>
              <a:t>Shows the output or feedback from execution. This is where you see results, logs, or status updates.</a:t>
            </a:r>
            <a:endParaRPr lang="en-US" altLang="en-US" sz="2000"/>
          </a:p>
          <a:p>
            <a:pPr lvl="0"/>
            <a:r>
              <a:rPr lang="en-US" altLang="en-US" sz="2400"/>
              <a:t>Source Editor  </a:t>
            </a:r>
            <a:endParaRPr lang="en-US" altLang="en-US" sz="2400"/>
          </a:p>
          <a:p>
            <a:pPr lvl="1"/>
            <a:r>
              <a:rPr lang="en-US" altLang="en-US" sz="2000"/>
              <a:t>The main coding area where you write and edit source code. It’s the core workspace for developers.</a:t>
            </a:r>
            <a:endParaRPr lang="en-US" altLang="en-US" sz="2000"/>
          </a:p>
          <a:p>
            <a:pPr lvl="0"/>
            <a:r>
              <a:rPr lang="en-US" altLang="en-US" sz="2400"/>
              <a:t>Execution Control  </a:t>
            </a:r>
            <a:endParaRPr lang="en-US" altLang="en-US" sz="2400"/>
          </a:p>
          <a:p>
            <a:pPr lvl="1"/>
            <a:r>
              <a:rPr lang="en-US" altLang="en-US" sz="2000"/>
              <a:t>Manages how and when the code runs. Includes buttons or commands like Run, Pause, Stop, and sometimes debugging tools.</a:t>
            </a:r>
            <a:endParaRPr lang="en-US" alt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Comments in Swift</a:t>
            </a:r>
            <a:endParaRPr lang="en-US"/>
          </a:p>
        </p:txBody>
      </p:sp>
      <p:sp>
        <p:nvSpPr>
          <p:cNvPr id="3" name="Content Placeholder 2"/>
          <p:cNvSpPr>
            <a:spLocks noGrp="1"/>
          </p:cNvSpPr>
          <p:nvPr>
            <p:ph idx="1"/>
          </p:nvPr>
        </p:nvSpPr>
        <p:spPr/>
        <p:txBody>
          <a:bodyPr/>
          <a:p>
            <a:r>
              <a:rPr lang="en-US" altLang="en-US"/>
              <a:t>Single-line comment</a:t>
            </a:r>
            <a:endParaRPr lang="en-US" altLang="en-US"/>
          </a:p>
          <a:p>
            <a:pPr marL="457200" lvl="1" indent="0">
              <a:buNone/>
            </a:pPr>
            <a:r>
              <a:rPr lang="en-US" altLang="en-US"/>
              <a:t>// SINGLE LINE COMMENT</a:t>
            </a:r>
            <a:endParaRPr lang="en-US" altLang="en-US"/>
          </a:p>
          <a:p>
            <a:endParaRPr lang="en-US" altLang="en-US"/>
          </a:p>
          <a:p>
            <a:r>
              <a:rPr lang="en-US" altLang="en-US"/>
              <a:t>Multi-line comment</a:t>
            </a:r>
            <a:endParaRPr lang="en-US" altLang="en-US"/>
          </a:p>
          <a:p>
            <a:pPr marL="457200" lvl="1" indent="0">
              <a:buNone/>
            </a:pPr>
            <a:r>
              <a:rPr lang="en-US" altLang="en-US"/>
              <a:t>/* Playground - noun: a</a:t>
            </a:r>
            <a:endParaRPr lang="en-US" altLang="en-US"/>
          </a:p>
          <a:p>
            <a:pPr marL="457200" lvl="1" indent="0">
              <a:buNone/>
            </a:pPr>
            <a:r>
              <a:rPr lang="en-US" altLang="en-US"/>
              <a:t>place where</a:t>
            </a:r>
            <a:endParaRPr lang="en-US" altLang="en-US"/>
          </a:p>
          <a:p>
            <a:pPr marL="457200" lvl="1" indent="0">
              <a:buNone/>
            </a:pPr>
            <a:r>
              <a:rPr lang="en-US" altLang="en-US"/>
              <a:t>people can play */</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Variables</a:t>
            </a:r>
            <a:endParaRPr lang="en-US"/>
          </a:p>
        </p:txBody>
      </p:sp>
      <p:sp>
        <p:nvSpPr>
          <p:cNvPr id="3" name="Content Placeholder 2"/>
          <p:cNvSpPr>
            <a:spLocks noGrp="1"/>
          </p:cNvSpPr>
          <p:nvPr>
            <p:ph idx="1"/>
          </p:nvPr>
        </p:nvSpPr>
        <p:spPr/>
        <p:txBody>
          <a:bodyPr/>
          <a:p>
            <a:r>
              <a:rPr lang="en-US"/>
              <a:t> </a:t>
            </a:r>
            <a:r>
              <a:rPr lang="en-US" altLang="en-US"/>
              <a:t>In swift variables are used to store value in memory and we can manipulate or change the</a:t>
            </a:r>
            <a:endParaRPr lang="en-US" altLang="en-US"/>
          </a:p>
          <a:p>
            <a:r>
              <a:rPr lang="en-US" altLang="en-US"/>
              <a:t>value of variables by applying different operations based on our requirements.</a:t>
            </a:r>
            <a:endParaRPr lang="en-US" altLang="en-US"/>
          </a:p>
          <a:p>
            <a:r>
              <a:rPr lang="en-US" altLang="en-US"/>
              <a:t>We use keyword called “var” to define variables in swift.</a:t>
            </a:r>
            <a:endParaRPr lang="en-US" altLang="en-US"/>
          </a:p>
          <a:p>
            <a:r>
              <a:rPr lang="en-US" altLang="en-US"/>
              <a:t>Syntax :</a:t>
            </a:r>
            <a:endParaRPr lang="en-US" altLang="en-US"/>
          </a:p>
          <a:p>
            <a:pPr lvl="1"/>
            <a:r>
              <a:rPr lang="en-US" altLang="en-US" sz="2400"/>
              <a:t>var &lt;Variable_Name&gt; = &lt;Value&gt;</a:t>
            </a:r>
            <a:endParaRPr lang="en-US" altLang="en-US" sz="2400"/>
          </a:p>
          <a:p>
            <a:pPr lvl="1"/>
            <a:endParaRPr lang="en-US" altLang="en-US"/>
          </a:p>
          <a:p>
            <a:endParaRPr lang="en-US" altLang="en-US"/>
          </a:p>
        </p:txBody>
      </p:sp>
      <p:pic>
        <p:nvPicPr>
          <p:cNvPr id="4" name="Picture 3"/>
          <p:cNvPicPr>
            <a:picLocks noChangeAspect="1"/>
          </p:cNvPicPr>
          <p:nvPr/>
        </p:nvPicPr>
        <p:blipFill>
          <a:blip r:embed="rId1"/>
          <a:srcRect t="805"/>
          <a:stretch>
            <a:fillRect/>
          </a:stretch>
        </p:blipFill>
        <p:spPr>
          <a:xfrm>
            <a:off x="1429385" y="5044440"/>
            <a:ext cx="3371850" cy="16440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Data-Types</a:t>
            </a:r>
            <a:endParaRPr lang="en-US"/>
          </a:p>
        </p:txBody>
      </p:sp>
      <p:sp>
        <p:nvSpPr>
          <p:cNvPr id="5" name="Content Placeholder 4"/>
          <p:cNvSpPr/>
          <p:nvPr>
            <p:ph idx="1"/>
          </p:nvPr>
        </p:nvSpPr>
        <p:spPr/>
        <p:txBody>
          <a:bodyPr>
            <a:noAutofit/>
          </a:bodyPr>
          <a:p>
            <a:r>
              <a:rPr lang="en-US" sz="1800">
                <a:sym typeface="+mn-ea"/>
              </a:rPr>
              <a:t>1. Integer  - int,Uint (int32, int64, UInt32, UInt64)</a:t>
            </a:r>
            <a:endParaRPr lang="en-US" sz="1800"/>
          </a:p>
          <a:p>
            <a:pPr lvl="1"/>
            <a:r>
              <a:rPr lang="en-US" sz="1800">
                <a:sym typeface="+mn-ea"/>
              </a:rPr>
              <a:t>Unsigned will only allow positive values.</a:t>
            </a:r>
            <a:endParaRPr lang="en-US" sz="1800"/>
          </a:p>
          <a:p>
            <a:r>
              <a:rPr lang="en-US" sz="1800">
                <a:sym typeface="+mn-ea"/>
              </a:rPr>
              <a:t>2. Float </a:t>
            </a:r>
            <a:endParaRPr lang="en-US" sz="1800"/>
          </a:p>
          <a:p>
            <a:pPr lvl="1"/>
            <a:r>
              <a:rPr lang="en-US" sz="1800">
                <a:sym typeface="+mn-ea"/>
              </a:rPr>
              <a:t> Small Decimal Numbers</a:t>
            </a:r>
            <a:endParaRPr lang="en-US" sz="1800"/>
          </a:p>
          <a:p>
            <a:r>
              <a:rPr lang="en-US" sz="1800">
                <a:sym typeface="+mn-ea"/>
              </a:rPr>
              <a:t>3. Double </a:t>
            </a:r>
            <a:endParaRPr lang="en-US" sz="1800"/>
          </a:p>
          <a:p>
            <a:pPr lvl="1"/>
            <a:r>
              <a:rPr lang="en-US" sz="1800">
                <a:sym typeface="+mn-ea"/>
              </a:rPr>
              <a:t> Double is more precise then Float and it can storelarge decimal Numbers.</a:t>
            </a:r>
            <a:endParaRPr lang="en-US" sz="1800"/>
          </a:p>
          <a:p>
            <a:r>
              <a:rPr lang="en-US" sz="1800">
                <a:sym typeface="+mn-ea"/>
              </a:rPr>
              <a:t>4. Bool</a:t>
            </a:r>
            <a:endParaRPr lang="en-US" sz="1800"/>
          </a:p>
          <a:p>
            <a:pPr lvl="1"/>
            <a:r>
              <a:rPr lang="en-US" sz="1800">
                <a:sym typeface="+mn-ea"/>
              </a:rPr>
              <a:t>True or False</a:t>
            </a:r>
            <a:endParaRPr lang="en-US" sz="1800"/>
          </a:p>
          <a:p>
            <a:pPr lvl="0"/>
            <a:r>
              <a:rPr lang="en-US" sz="1800">
                <a:sym typeface="+mn-ea"/>
              </a:rPr>
              <a:t>5. String </a:t>
            </a:r>
            <a:endParaRPr lang="en-US" sz="1800"/>
          </a:p>
          <a:p>
            <a:pPr lvl="1"/>
            <a:r>
              <a:rPr lang="en-US" sz="1800">
                <a:sym typeface="+mn-ea"/>
              </a:rPr>
              <a:t>is a combination of a charatcers</a:t>
            </a:r>
            <a:endParaRPr lang="en-US" sz="1800"/>
          </a:p>
          <a:p>
            <a:pPr lvl="0"/>
            <a:r>
              <a:rPr lang="en-US" sz="1800">
                <a:sym typeface="+mn-ea"/>
              </a:rPr>
              <a:t>6. Character</a:t>
            </a:r>
            <a:endParaRPr lang="en-US" sz="1800"/>
          </a:p>
          <a:p>
            <a:pPr lvl="0"/>
            <a:r>
              <a:rPr lang="en-US" sz="1800">
                <a:sym typeface="+mn-ea"/>
              </a:rPr>
              <a:t>7. Optional</a:t>
            </a:r>
            <a:endParaRPr lang="en-US" sz="1800"/>
          </a:p>
          <a:p>
            <a:pPr lvl="1"/>
            <a:r>
              <a:rPr lang="en-US" sz="1800">
                <a:sym typeface="+mn-ea"/>
              </a:rPr>
              <a:t>Can Hold value oor no Value </a:t>
            </a:r>
            <a:endParaRPr lang="en-US" sz="1800"/>
          </a:p>
          <a:p>
            <a:endParaRPr lang="en-US"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Constants</a:t>
            </a:r>
            <a:endParaRPr lang="en-US"/>
          </a:p>
        </p:txBody>
      </p:sp>
      <p:sp>
        <p:nvSpPr>
          <p:cNvPr id="3" name="Content Placeholder 2"/>
          <p:cNvSpPr>
            <a:spLocks noGrp="1"/>
          </p:cNvSpPr>
          <p:nvPr>
            <p:ph idx="1"/>
          </p:nvPr>
        </p:nvSpPr>
        <p:spPr/>
        <p:txBody>
          <a:bodyPr/>
          <a:p>
            <a:r>
              <a:rPr lang="en-US" altLang="en-US"/>
              <a:t>Constant means it refers fixed value it means when we declare variable as constant then it’s not possible for us to change or override.</a:t>
            </a:r>
            <a:endParaRPr lang="en-US" altLang="en-US"/>
          </a:p>
          <a:p>
            <a:r>
              <a:rPr lang="en-US" altLang="en-US"/>
              <a:t>Syntax :</a:t>
            </a:r>
            <a:endParaRPr lang="en-US" altLang="en-US"/>
          </a:p>
          <a:p>
            <a:pPr lvl="1"/>
            <a:r>
              <a:rPr lang="en-US" altLang="en-US"/>
              <a:t>let &lt;ConstantName&gt; = &lt;Value&gt;</a:t>
            </a:r>
            <a:endParaRPr lang="en-US" altLang="en-US"/>
          </a:p>
          <a:p>
            <a:pPr lvl="0"/>
            <a:r>
              <a:rPr lang="en-US" altLang="en-US"/>
              <a:t>Example :</a:t>
            </a:r>
            <a:endParaRPr lang="en-US" altLang="en-US"/>
          </a:p>
          <a:p>
            <a:pPr lvl="1"/>
            <a:r>
              <a:rPr lang="en-US" altLang="en-US"/>
              <a:t>let str1 = “IOS Programming”</a:t>
            </a:r>
            <a:endParaRPr lang="en-US" altLang="en-US"/>
          </a:p>
          <a:p>
            <a:pPr lvl="1"/>
            <a:r>
              <a:rPr lang="en-US" altLang="en-US"/>
              <a:t>print(str1)</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String Concatenation and Interpolation</a:t>
            </a:r>
            <a:endParaRPr lang="en-US"/>
          </a:p>
        </p:txBody>
      </p:sp>
      <p:sp>
        <p:nvSpPr>
          <p:cNvPr id="3" name="Content Placeholder 2"/>
          <p:cNvSpPr>
            <a:spLocks noGrp="1"/>
          </p:cNvSpPr>
          <p:nvPr>
            <p:ph idx="1"/>
          </p:nvPr>
        </p:nvSpPr>
        <p:spPr/>
        <p:txBody>
          <a:bodyPr/>
          <a:p>
            <a:r>
              <a:rPr lang="en-US"/>
              <a:t>to combining two variables or string swift provide two ways:</a:t>
            </a:r>
            <a:endParaRPr lang="en-US"/>
          </a:p>
          <a:p>
            <a:pPr lvl="1"/>
            <a:r>
              <a:rPr lang="en-US"/>
              <a:t>1. Concatenation</a:t>
            </a:r>
            <a:endParaRPr lang="en-US"/>
          </a:p>
          <a:p>
            <a:pPr lvl="1"/>
            <a:r>
              <a:rPr lang="en-US"/>
              <a:t>2. Interpolation</a:t>
            </a:r>
            <a:endParaRPr lang="en-US"/>
          </a:p>
          <a:p>
            <a:pPr lvl="1"/>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Explanation of Both</a:t>
            </a:r>
            <a:endParaRPr lang="en-US"/>
          </a:p>
        </p:txBody>
      </p:sp>
      <p:pic>
        <p:nvPicPr>
          <p:cNvPr id="4" name="Content Placeholder 3"/>
          <p:cNvPicPr>
            <a:picLocks noChangeAspect="1"/>
          </p:cNvPicPr>
          <p:nvPr>
            <p:ph idx="1"/>
          </p:nvPr>
        </p:nvPicPr>
        <p:blipFill>
          <a:blip r:embed="rId1"/>
          <a:stretch>
            <a:fillRect/>
          </a:stretch>
        </p:blipFill>
        <p:spPr>
          <a:xfrm>
            <a:off x="2667000" y="1315085"/>
            <a:ext cx="7096760" cy="51904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Optionals</a:t>
            </a:r>
            <a:endParaRPr lang="en-US"/>
          </a:p>
        </p:txBody>
      </p:sp>
      <p:sp>
        <p:nvSpPr>
          <p:cNvPr id="3" name="Content Placeholder 2"/>
          <p:cNvSpPr>
            <a:spLocks noGrp="1"/>
          </p:cNvSpPr>
          <p:nvPr>
            <p:ph idx="1"/>
          </p:nvPr>
        </p:nvSpPr>
        <p:spPr/>
        <p:txBody>
          <a:bodyPr>
            <a:normAutofit lnSpcReduction="10000"/>
          </a:bodyPr>
          <a:p>
            <a:r>
              <a:rPr lang="en-US"/>
              <a:t>optionals is a type which is used to hold the value or absence of value means nil values which is representing the absence of value.</a:t>
            </a:r>
            <a:endParaRPr lang="en-US"/>
          </a:p>
          <a:p>
            <a:r>
              <a:rPr lang="en-US"/>
              <a:t>Example : </a:t>
            </a:r>
            <a:endParaRPr lang="en-US"/>
          </a:p>
          <a:p>
            <a:pPr lvl="1"/>
            <a:r>
              <a:rPr lang="en-US"/>
              <a:t>var firstname : String  = “IOS Programming”</a:t>
            </a:r>
            <a:endParaRPr lang="en-US"/>
          </a:p>
          <a:p>
            <a:pPr lvl="1"/>
            <a:r>
              <a:rPr lang="en-US"/>
              <a:t>var lastname : String // Compile time error</a:t>
            </a:r>
            <a:endParaRPr lang="en-US"/>
          </a:p>
          <a:p>
            <a:pPr lvl="1"/>
            <a:r>
              <a:rPr lang="en-US"/>
              <a:t>var uname : String = nil // throw compile time error</a:t>
            </a:r>
            <a:endParaRPr lang="en-US"/>
          </a:p>
          <a:p>
            <a:pPr lvl="1"/>
            <a:endParaRPr lang="en-US"/>
          </a:p>
          <a:p>
            <a:pPr lvl="1"/>
            <a:r>
              <a:rPr lang="en-US"/>
              <a:t>Here nil means no value is present. </a:t>
            </a:r>
            <a:endParaRPr lang="en-US"/>
          </a:p>
          <a:p>
            <a:pPr lvl="1"/>
            <a:r>
              <a:rPr lang="en-US"/>
              <a:t>because lastname is not having any value it will throw an error.</a:t>
            </a:r>
            <a:endParaRPr lang="en-US"/>
          </a:p>
          <a:p>
            <a:pPr lvl="1"/>
            <a:r>
              <a:rPr lang="en-US"/>
              <a:t>uname will also throw an error because String is not able to store the nil value.</a:t>
            </a:r>
            <a:endParaRPr lang="en-US"/>
          </a:p>
          <a:p>
            <a:pPr lvl="1"/>
            <a:r>
              <a:rPr lang="en-US"/>
              <a:t>So let’s see the solution !!</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Optionals : One Solution to us</a:t>
            </a:r>
            <a:endParaRPr lang="en-US"/>
          </a:p>
        </p:txBody>
      </p:sp>
      <p:sp>
        <p:nvSpPr>
          <p:cNvPr id="3" name="Content Placeholder 2"/>
          <p:cNvSpPr>
            <a:spLocks noGrp="1"/>
          </p:cNvSpPr>
          <p:nvPr>
            <p:ph idx="1"/>
          </p:nvPr>
        </p:nvSpPr>
        <p:spPr/>
        <p:txBody>
          <a:bodyPr/>
          <a:p>
            <a:r>
              <a:rPr lang="en-US"/>
              <a:t>basically we have to use ‘?’ symbol to declare the variable optional. (after the datatype)</a:t>
            </a:r>
            <a:endParaRPr lang="en-US"/>
          </a:p>
          <a:p>
            <a:r>
              <a:rPr lang="en-US"/>
              <a:t>Syntax : </a:t>
            </a:r>
            <a:endParaRPr lang="en-US"/>
          </a:p>
          <a:p>
            <a:pPr lvl="1"/>
            <a:r>
              <a:rPr lang="en-US"/>
              <a:t>var variable_name : DataType ?</a:t>
            </a:r>
            <a:endParaRPr lang="en-US"/>
          </a:p>
          <a:p>
            <a:pPr lvl="0"/>
            <a:r>
              <a:rPr lang="en-US"/>
              <a:t>Example :</a:t>
            </a:r>
            <a:endParaRPr lang="en-US"/>
          </a:p>
          <a:p>
            <a:pPr lvl="1"/>
            <a:r>
              <a:rPr lang="en-US"/>
              <a:t>var firstname : String ?</a:t>
            </a:r>
            <a:endParaRPr lang="en-US"/>
          </a:p>
          <a:p>
            <a:pPr lvl="1"/>
            <a:r>
              <a:rPr lang="en-US"/>
              <a:t>print(firstname)</a:t>
            </a:r>
            <a:endParaRPr lang="en-US"/>
          </a:p>
          <a:p>
            <a:pPr lvl="1"/>
            <a:endParaRPr lang="en-US"/>
          </a:p>
          <a:p>
            <a:pPr lvl="1"/>
            <a:r>
              <a:rPr lang="en-US" sz="2400"/>
              <a:t>// O/P -&gt; nil</a:t>
            </a:r>
            <a:endParaRPr lang="en-US"/>
          </a:p>
          <a:p>
            <a:pPr lvl="1"/>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Problem with nil concept</a:t>
            </a:r>
            <a:endParaRPr lang="en-US"/>
          </a:p>
        </p:txBody>
      </p:sp>
      <p:sp>
        <p:nvSpPr>
          <p:cNvPr id="3" name="Content Placeholder 2"/>
          <p:cNvSpPr>
            <a:spLocks noGrp="1"/>
          </p:cNvSpPr>
          <p:nvPr>
            <p:ph idx="1"/>
          </p:nvPr>
        </p:nvSpPr>
        <p:spPr/>
        <p:txBody>
          <a:bodyPr/>
          <a:p>
            <a:r>
              <a:rPr lang="en-US" altLang="en-US"/>
              <a:t>If you try to directly use name without checking, Swift won’t allow it because it could be nil.</a:t>
            </a:r>
            <a:endParaRPr lang="en-US" altLang="en-US"/>
          </a:p>
          <a:p>
            <a:r>
              <a:rPr lang="en-US" altLang="en-US"/>
              <a:t>This prevents runtime crashes that are common in other languages when dereferencing null.</a:t>
            </a:r>
            <a:endParaRPr lang="en-US" altLang="en-US"/>
          </a:p>
          <a:p>
            <a:r>
              <a:rPr lang="en-US" altLang="en-US"/>
              <a:t>When we create an optional variable (?), swift stores the values like this,</a:t>
            </a:r>
            <a:endParaRPr lang="en-US" altLang="en-US"/>
          </a:p>
          <a:p>
            <a:pPr lvl="1"/>
            <a:r>
              <a:rPr lang="en-US" altLang="en-US"/>
              <a:t>Optional(“Bharat”)</a:t>
            </a:r>
            <a:endParaRPr lang="en-US" altLang="en-US"/>
          </a:p>
          <a:p>
            <a:pPr lvl="1"/>
            <a:r>
              <a:rPr lang="en-US" altLang="en-US"/>
              <a:t>so what is the solution for this problem ? -  unwrapping the variable’s value </a:t>
            </a:r>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Force Unwrapping and Autometic Unwrapping</a:t>
            </a:r>
            <a:endParaRPr lang="en-US"/>
          </a:p>
        </p:txBody>
      </p:sp>
      <p:sp>
        <p:nvSpPr>
          <p:cNvPr id="3" name="Content Placeholder 2"/>
          <p:cNvSpPr>
            <a:spLocks noGrp="1"/>
          </p:cNvSpPr>
          <p:nvPr>
            <p:ph idx="1"/>
          </p:nvPr>
        </p:nvSpPr>
        <p:spPr/>
        <p:txBody>
          <a:bodyPr/>
          <a:p>
            <a:r>
              <a:rPr lang="en-US"/>
              <a:t>using an exclamation mark(!) we can unwrapp the value which is nil and solve the above problem.</a:t>
            </a:r>
            <a:endParaRPr lang="en-US"/>
          </a:p>
          <a:p>
            <a:r>
              <a:rPr lang="en-US"/>
              <a:t>Example without  unwrapping</a:t>
            </a:r>
            <a:endParaRPr lang="en-US"/>
          </a:p>
          <a:p>
            <a:pPr lvl="1"/>
            <a:r>
              <a:rPr lang="en-US"/>
              <a:t>var firstname : String?</a:t>
            </a:r>
            <a:endParaRPr lang="en-US"/>
          </a:p>
          <a:p>
            <a:pPr lvl="1"/>
            <a:r>
              <a:rPr lang="en-US"/>
              <a:t>firstname = “Vivan”</a:t>
            </a:r>
            <a:endParaRPr lang="en-US"/>
          </a:p>
          <a:p>
            <a:pPr lvl="1"/>
            <a:endParaRPr lang="en-US"/>
          </a:p>
          <a:p>
            <a:pPr lvl="1"/>
            <a:r>
              <a:rPr lang="en-US"/>
              <a:t>if firstname!=nil{</a:t>
            </a:r>
            <a:endParaRPr lang="en-US"/>
          </a:p>
          <a:p>
            <a:pPr lvl="2"/>
            <a:r>
              <a:rPr lang="en-US"/>
              <a:t>print(“firstname is \(firstname)”)</a:t>
            </a:r>
            <a:endParaRPr lang="en-US"/>
          </a:p>
          <a:p>
            <a:pPr lvl="1"/>
            <a:r>
              <a:rPr lang="en-US"/>
              <a:t>}</a:t>
            </a:r>
            <a:endParaRPr lang="en-US"/>
          </a:p>
          <a:p>
            <a:pPr lvl="1"/>
            <a:r>
              <a:rPr lang="en-US"/>
              <a:t>// o/p -&gt; firstname is Optional(“Vivan”)</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Solving that...</a:t>
            </a:r>
            <a:endParaRPr lang="en-US"/>
          </a:p>
        </p:txBody>
      </p:sp>
      <p:sp>
        <p:nvSpPr>
          <p:cNvPr id="3" name="Content Placeholder 2"/>
          <p:cNvSpPr>
            <a:spLocks noGrp="1"/>
          </p:cNvSpPr>
          <p:nvPr>
            <p:ph idx="1"/>
          </p:nvPr>
        </p:nvSpPr>
        <p:spPr/>
        <p:txBody>
          <a:bodyPr/>
          <a:p>
            <a:pPr lvl="1"/>
            <a:r>
              <a:rPr lang="en-US" sz="2800">
                <a:sym typeface="+mn-ea"/>
              </a:rPr>
              <a:t>var firstname : String?</a:t>
            </a:r>
            <a:endParaRPr lang="en-US" sz="2800"/>
          </a:p>
          <a:p>
            <a:pPr lvl="1"/>
            <a:r>
              <a:rPr lang="en-US" sz="2800">
                <a:sym typeface="+mn-ea"/>
              </a:rPr>
              <a:t>firstname = “Vivan”</a:t>
            </a:r>
            <a:endParaRPr lang="en-US" sz="2800"/>
          </a:p>
          <a:p>
            <a:pPr lvl="1"/>
            <a:endParaRPr lang="en-US" sz="2800"/>
          </a:p>
          <a:p>
            <a:pPr lvl="1"/>
            <a:r>
              <a:rPr lang="en-US" sz="2800">
                <a:sym typeface="+mn-ea"/>
              </a:rPr>
              <a:t>if firstname!=nil{</a:t>
            </a:r>
            <a:endParaRPr lang="en-US" sz="2800"/>
          </a:p>
          <a:p>
            <a:pPr lvl="2"/>
            <a:r>
              <a:rPr lang="en-US" sz="2800">
                <a:sym typeface="+mn-ea"/>
              </a:rPr>
              <a:t>print(“firstname is \(firstname!)”)</a:t>
            </a:r>
            <a:endParaRPr lang="en-US" sz="2800"/>
          </a:p>
          <a:p>
            <a:pPr lvl="1"/>
            <a:r>
              <a:rPr lang="en-US" sz="2800">
                <a:sym typeface="+mn-ea"/>
              </a:rPr>
              <a:t>}</a:t>
            </a:r>
            <a:endParaRPr lang="en-US" sz="2800"/>
          </a:p>
          <a:p>
            <a:pPr lvl="1"/>
            <a:r>
              <a:rPr lang="en-US" sz="2800">
                <a:sym typeface="+mn-ea"/>
              </a:rPr>
              <a:t>// o/p -&gt; firstname is Vivan</a:t>
            </a:r>
            <a:endParaRPr lang="en-US" sz="2800"/>
          </a:p>
          <a:p>
            <a:pPr marL="0" indent="0">
              <a:buNone/>
            </a:pP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Important Notes</a:t>
            </a:r>
            <a:endParaRPr lang="en-US"/>
          </a:p>
        </p:txBody>
      </p:sp>
      <p:sp>
        <p:nvSpPr>
          <p:cNvPr id="3" name="Content Placeholder 2"/>
          <p:cNvSpPr>
            <a:spLocks noGrp="1"/>
          </p:cNvSpPr>
          <p:nvPr>
            <p:ph idx="1"/>
          </p:nvPr>
        </p:nvSpPr>
        <p:spPr/>
        <p:txBody>
          <a:bodyPr>
            <a:normAutofit lnSpcReduction="10000"/>
          </a:bodyPr>
          <a:p>
            <a:r>
              <a:rPr lang="en-US"/>
              <a:t>Force unwrapping is called “force” because if the value is nil value and we use an exclamation mark (!) the program will crash.</a:t>
            </a:r>
            <a:endParaRPr lang="en-US"/>
          </a:p>
          <a:p>
            <a:endParaRPr lang="en-US"/>
          </a:p>
          <a:p>
            <a:r>
              <a:rPr lang="en-US"/>
              <a:t>var name : String?</a:t>
            </a:r>
            <a:endParaRPr lang="en-US"/>
          </a:p>
          <a:p>
            <a:r>
              <a:rPr lang="en-US"/>
              <a:t>print(name!) // Crash</a:t>
            </a:r>
            <a:endParaRPr lang="en-US"/>
          </a:p>
          <a:p>
            <a:endParaRPr lang="en-US"/>
          </a:p>
          <a:p>
            <a:r>
              <a:rPr lang="en-US"/>
              <a:t>so always check like this,</a:t>
            </a:r>
            <a:endParaRPr lang="en-US"/>
          </a:p>
          <a:p>
            <a:pPr lvl="1"/>
            <a:r>
              <a:rPr lang="en-US" sz="2400"/>
              <a:t>if name!=nil{</a:t>
            </a:r>
            <a:endParaRPr lang="en-US" sz="2400"/>
          </a:p>
          <a:p>
            <a:pPr lvl="2"/>
            <a:r>
              <a:rPr lang="en-US" sz="2000"/>
              <a:t>print(name!)</a:t>
            </a:r>
            <a:endParaRPr lang="en-US" sz="2000"/>
          </a:p>
          <a:p>
            <a:pPr lvl="1"/>
            <a:r>
              <a:rPr lang="en-US" sz="2400"/>
              <a:t>}</a:t>
            </a:r>
            <a:endParaRPr lang="en-US"/>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t>Autometic Unwrapping (Implicit Unwrapped Optional)</a:t>
            </a:r>
            <a:endParaRPr lang="en-US"/>
          </a:p>
        </p:txBody>
      </p:sp>
      <p:sp>
        <p:nvSpPr>
          <p:cNvPr id="3" name="Content Placeholder 2"/>
          <p:cNvSpPr>
            <a:spLocks noGrp="1"/>
          </p:cNvSpPr>
          <p:nvPr>
            <p:ph idx="1"/>
          </p:nvPr>
        </p:nvSpPr>
        <p:spPr/>
        <p:txBody>
          <a:bodyPr/>
          <a:p>
            <a:r>
              <a:rPr lang="en-US"/>
              <a:t>instead of ? we will use !.</a:t>
            </a:r>
            <a:endParaRPr lang="en-US"/>
          </a:p>
          <a:p>
            <a:r>
              <a:rPr lang="en-US"/>
              <a:t>var name : String!</a:t>
            </a:r>
            <a:endParaRPr lang="en-US"/>
          </a:p>
          <a:p>
            <a:r>
              <a:rPr lang="en-US"/>
              <a:t>Example : </a:t>
            </a:r>
            <a:endParaRPr lang="en-US"/>
          </a:p>
          <a:p>
            <a:pPr lvl="1"/>
            <a:r>
              <a:rPr lang="en-US"/>
              <a:t>var name : String!</a:t>
            </a:r>
            <a:endParaRPr lang="en-US"/>
          </a:p>
          <a:p>
            <a:pPr lvl="1"/>
            <a:r>
              <a:rPr lang="en-US"/>
              <a:t>name = “Vivan”</a:t>
            </a:r>
            <a:endParaRPr lang="en-US"/>
          </a:p>
          <a:p>
            <a:pPr lvl="1"/>
            <a:endParaRPr lang="en-US"/>
          </a:p>
          <a:p>
            <a:pPr lvl="1"/>
            <a:r>
              <a:rPr lang="en-US"/>
              <a:t>if name!=nil{</a:t>
            </a:r>
            <a:endParaRPr lang="en-US"/>
          </a:p>
          <a:p>
            <a:pPr lvl="2"/>
            <a:r>
              <a:rPr lang="en-US"/>
              <a:t>print(name)</a:t>
            </a:r>
            <a:endParaRPr lang="en-US"/>
          </a:p>
          <a:p>
            <a:pPr lvl="1"/>
            <a:r>
              <a:rPr lang="en-US"/>
              <a:t>}</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Difference - From ChatGPT</a:t>
            </a:r>
            <a:endParaRPr lang="en-US"/>
          </a:p>
        </p:txBody>
      </p:sp>
      <p:pic>
        <p:nvPicPr>
          <p:cNvPr id="4" name="Picture 3" descr="Capture"/>
          <p:cNvPicPr>
            <a:picLocks noChangeAspect="1"/>
          </p:cNvPicPr>
          <p:nvPr/>
        </p:nvPicPr>
        <p:blipFill>
          <a:blip r:embed="rId1"/>
          <a:stretch>
            <a:fillRect/>
          </a:stretch>
        </p:blipFill>
        <p:spPr>
          <a:xfrm>
            <a:off x="2381250" y="1285875"/>
            <a:ext cx="7077075" cy="2447925"/>
          </a:xfrm>
          <a:prstGeom prst="rect">
            <a:avLst/>
          </a:prstGeom>
        </p:spPr>
      </p:pic>
      <p:pic>
        <p:nvPicPr>
          <p:cNvPr id="5" name="Picture 4" descr="Capture1"/>
          <p:cNvPicPr>
            <a:picLocks noChangeAspect="1"/>
          </p:cNvPicPr>
          <p:nvPr/>
        </p:nvPicPr>
        <p:blipFill>
          <a:blip r:embed="rId2"/>
          <a:stretch>
            <a:fillRect/>
          </a:stretch>
        </p:blipFill>
        <p:spPr>
          <a:xfrm>
            <a:off x="2286000" y="3515995"/>
            <a:ext cx="7172325" cy="30384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If-else</a:t>
            </a:r>
            <a:endParaRPr lang="en-US"/>
          </a:p>
        </p:txBody>
      </p:sp>
      <p:sp>
        <p:nvSpPr>
          <p:cNvPr id="3" name="Content Placeholder 2"/>
          <p:cNvSpPr>
            <a:spLocks noGrp="1"/>
          </p:cNvSpPr>
          <p:nvPr>
            <p:ph idx="1"/>
          </p:nvPr>
        </p:nvSpPr>
        <p:spPr/>
        <p:txBody>
          <a:bodyPr/>
          <a:p>
            <a:r>
              <a:rPr lang="en-US"/>
              <a:t>Syntax : </a:t>
            </a:r>
            <a:endParaRPr lang="en-US"/>
          </a:p>
          <a:p>
            <a:pPr lvl="1"/>
            <a:r>
              <a:rPr lang="en-US"/>
              <a:t>if condition {</a:t>
            </a:r>
            <a:endParaRPr lang="en-US"/>
          </a:p>
          <a:p>
            <a:pPr lvl="2"/>
            <a:r>
              <a:rPr lang="en-US"/>
              <a:t>//code</a:t>
            </a:r>
            <a:endParaRPr lang="en-US"/>
          </a:p>
          <a:p>
            <a:pPr lvl="1"/>
            <a:r>
              <a:rPr lang="en-US"/>
              <a:t>}else {</a:t>
            </a:r>
            <a:endParaRPr lang="en-US"/>
          </a:p>
          <a:p>
            <a:pPr lvl="2"/>
            <a:r>
              <a:rPr lang="en-US"/>
              <a:t>//code</a:t>
            </a:r>
            <a:endParaRPr lang="en-US"/>
          </a:p>
          <a:p>
            <a:pPr lvl="1"/>
            <a:r>
              <a:rPr lang="en-US"/>
              <a:t>}</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Tuples in Swift</a:t>
            </a:r>
            <a:endParaRPr lang="en-US"/>
          </a:p>
        </p:txBody>
      </p:sp>
      <p:sp>
        <p:nvSpPr>
          <p:cNvPr id="3" name="Content Placeholder 2"/>
          <p:cNvSpPr>
            <a:spLocks noGrp="1"/>
          </p:cNvSpPr>
          <p:nvPr>
            <p:ph idx="1"/>
          </p:nvPr>
        </p:nvSpPr>
        <p:spPr/>
        <p:txBody>
          <a:bodyPr/>
          <a:p>
            <a:r>
              <a:rPr lang="en-US" altLang="en-US"/>
              <a:t>In swift, tuples are used to group multiple values together into single compound value. The values whatever we will define in tuple can be of any type and there is no restriction to use same type of values.</a:t>
            </a:r>
            <a:endParaRPr lang="en-US" altLang="en-US"/>
          </a:p>
          <a:p>
            <a:r>
              <a:rPr lang="en-US" altLang="en-US"/>
              <a:t>In swift we have two types of tuples are available those are unnamed tuples and named tuples.</a:t>
            </a:r>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Unnamed Tuples</a:t>
            </a:r>
            <a:endParaRPr lang="en-US"/>
          </a:p>
        </p:txBody>
      </p:sp>
      <p:sp>
        <p:nvSpPr>
          <p:cNvPr id="3" name="Content Placeholder 2"/>
          <p:cNvSpPr>
            <a:spLocks noGrp="1"/>
          </p:cNvSpPr>
          <p:nvPr>
            <p:ph idx="1"/>
          </p:nvPr>
        </p:nvSpPr>
        <p:spPr/>
        <p:txBody>
          <a:bodyPr/>
          <a:p>
            <a:r>
              <a:rPr lang="en-US" altLang="en-US"/>
              <a:t>In swift, unnamed tuples are used to group multiple values into single by using parentheses and those are need to be separated by commas.</a:t>
            </a:r>
            <a:endParaRPr lang="en-US" altLang="en-US"/>
          </a:p>
          <a:p>
            <a:endParaRPr lang="en-US" altLang="en-US"/>
          </a:p>
          <a:p>
            <a:r>
              <a:rPr lang="en-US" altLang="en-US"/>
              <a:t>Following is the simple example of defining unnamed tuples in swift programming language.</a:t>
            </a:r>
            <a:endParaRPr lang="en-US" altLang="en-US"/>
          </a:p>
          <a:p>
            <a:r>
              <a:rPr lang="en-US" altLang="en-US"/>
              <a:t>let userInfo = ("Bharat Patel", 200)</a:t>
            </a:r>
            <a:endParaRPr lang="en-US" altLang="en-US"/>
          </a:p>
          <a:p>
            <a:r>
              <a:rPr lang="en-US" altLang="en-US"/>
              <a:t>Or</a:t>
            </a:r>
            <a:endParaRPr lang="en-US" altLang="en-US"/>
          </a:p>
          <a:p>
            <a:r>
              <a:rPr lang="en-US" altLang="en-US"/>
              <a:t>var userinfo:(String, Int) = ("Bharat Patel", 200)</a:t>
            </a:r>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Unnamed Tuples</a:t>
            </a:r>
            <a:endParaRPr lang="en-US"/>
          </a:p>
        </p:txBody>
      </p:sp>
      <p:sp>
        <p:nvSpPr>
          <p:cNvPr id="3" name="Content Placeholder 2"/>
          <p:cNvSpPr>
            <a:spLocks noGrp="1"/>
          </p:cNvSpPr>
          <p:nvPr>
            <p:ph idx="1"/>
          </p:nvPr>
        </p:nvSpPr>
        <p:spPr/>
        <p:txBody>
          <a:bodyPr/>
          <a:p>
            <a:r>
              <a:rPr lang="en-US" altLang="en-US"/>
              <a:t>If you observe above unnamed tuple values we are grouping string and integer values into single compound value and we are using immutable let or mutable var based on our requirements.</a:t>
            </a: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 Named Tuples</a:t>
            </a:r>
            <a:endParaRPr lang="en-US"/>
          </a:p>
        </p:txBody>
      </p:sp>
      <p:sp>
        <p:nvSpPr>
          <p:cNvPr id="3" name="Content Placeholder 2"/>
          <p:cNvSpPr>
            <a:spLocks noGrp="1"/>
          </p:cNvSpPr>
          <p:nvPr>
            <p:ph idx="1"/>
          </p:nvPr>
        </p:nvSpPr>
        <p:spPr/>
        <p:txBody>
          <a:bodyPr>
            <a:normAutofit fontScale="90000"/>
          </a:bodyPr>
          <a:p>
            <a:r>
              <a:rPr lang="en-US" altLang="en-US"/>
              <a:t>In swift, named tuples are used to group multiple values into single by using parentheses and need to define those values with named variables and those are separated by commas.</a:t>
            </a:r>
            <a:endParaRPr lang="en-US" altLang="en-US"/>
          </a:p>
          <a:p>
            <a:r>
              <a:rPr lang="en-US" altLang="en-US"/>
              <a:t>Following is the simple example of defining named tuples in swift programming language.</a:t>
            </a:r>
            <a:endParaRPr lang="en-US" altLang="en-US"/>
          </a:p>
          <a:p>
            <a:r>
              <a:rPr lang="en-US" altLang="en-US"/>
              <a:t>let userinfo = (name: "Bharat Patel", id: 200)</a:t>
            </a:r>
            <a:endParaRPr lang="en-US" altLang="en-US"/>
          </a:p>
          <a:p>
            <a:r>
              <a:rPr lang="en-US" altLang="en-US"/>
              <a:t>Or</a:t>
            </a:r>
            <a:endParaRPr lang="en-US" altLang="en-US"/>
          </a:p>
          <a:p>
            <a:r>
              <a:rPr lang="en-US" altLang="en-US"/>
              <a:t>var userinfo:(name:String, id:Int) = ("Bharat Patel", 200)</a:t>
            </a:r>
            <a:endParaRPr lang="en-US" altLang="en-US"/>
          </a:p>
          <a:p>
            <a:r>
              <a:rPr lang="en-US" altLang="en-US"/>
              <a:t>As we discussed in tuple we can use any type of values within the tuple and it’s restricted to use same type like arrays.</a:t>
            </a:r>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 Named Tuples</a:t>
            </a:r>
            <a:endParaRPr lang="en-US"/>
          </a:p>
        </p:txBody>
      </p:sp>
      <p:sp>
        <p:nvSpPr>
          <p:cNvPr id="3" name="Content Placeholder 2"/>
          <p:cNvSpPr>
            <a:spLocks noGrp="1"/>
          </p:cNvSpPr>
          <p:nvPr>
            <p:ph idx="1"/>
          </p:nvPr>
        </p:nvSpPr>
        <p:spPr/>
        <p:txBody>
          <a:bodyPr/>
          <a:p>
            <a:r>
              <a:rPr lang="en-US" altLang="en-US"/>
              <a:t>If you observe above tuple example we defined values with variable names and we are grouping String and Integer type values into single tuple value.</a:t>
            </a:r>
            <a:endParaRPr lang="en-US" altLang="en-US"/>
          </a:p>
          <a:p>
            <a:pPr lvl="1"/>
            <a:endParaRPr lang="en-US" altLang="en-US"/>
          </a:p>
        </p:txBody>
      </p:sp>
      <p:pic>
        <p:nvPicPr>
          <p:cNvPr id="4" name="Picture 3"/>
          <p:cNvPicPr>
            <a:picLocks noChangeAspect="1"/>
          </p:cNvPicPr>
          <p:nvPr/>
        </p:nvPicPr>
        <p:blipFill>
          <a:blip r:embed="rId1"/>
          <a:stretch>
            <a:fillRect/>
          </a:stretch>
        </p:blipFill>
        <p:spPr>
          <a:xfrm>
            <a:off x="964565" y="3429000"/>
            <a:ext cx="5362575" cy="19716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Loops in Swift</a:t>
            </a:r>
            <a:endParaRPr lang="en-US"/>
          </a:p>
        </p:txBody>
      </p:sp>
      <p:sp>
        <p:nvSpPr>
          <p:cNvPr id="5" name="Content Placeholder 4"/>
          <p:cNvSpPr/>
          <p:nvPr>
            <p:ph idx="1"/>
          </p:nvPr>
        </p:nvSpPr>
        <p:spPr/>
        <p:txBody>
          <a:bodyPr>
            <a:normAutofit fontScale="90000" lnSpcReduction="20000"/>
          </a:bodyPr>
          <a:p>
            <a:r>
              <a:rPr lang="en-US" altLang="en-US"/>
              <a:t>In swift, for-in loop is used to iterate over a sequence of items, such as items in an array list, characters in string or collection of items to execute specified statements repeatedly based on the defined conditions.</a:t>
            </a:r>
            <a:endParaRPr lang="en-US" altLang="en-US"/>
          </a:p>
          <a:p>
            <a:r>
              <a:rPr lang="en-US" altLang="en-US"/>
              <a:t>If we get requirement like need to execute set of statements repeatedly based on the items in list or array then by using for-in loop we can easily achieve this functionality in swift programming language.</a:t>
            </a:r>
            <a:endParaRPr lang="en-US" altLang="en-US"/>
          </a:p>
          <a:p>
            <a:r>
              <a:rPr lang="en-US" altLang="en-US"/>
              <a:t>syntax:</a:t>
            </a:r>
            <a:endParaRPr lang="en-US" altLang="en-US"/>
          </a:p>
          <a:p>
            <a:r>
              <a:rPr lang="en-US" altLang="en-US"/>
              <a:t>for item_name in list_name {</a:t>
            </a:r>
            <a:endParaRPr lang="en-US" altLang="en-US"/>
          </a:p>
          <a:p>
            <a:r>
              <a:rPr lang="en-US" altLang="en-US"/>
              <a:t>// your statements</a:t>
            </a:r>
            <a:endParaRPr lang="en-US" altLang="en-US"/>
          </a:p>
          <a:p>
            <a:r>
              <a:rPr lang="en-US" altLang="en-US"/>
              <a:t>}</a:t>
            </a:r>
            <a:endParaRPr lang="en-US" altLang="en-US"/>
          </a:p>
          <a:p>
            <a:r>
              <a:rPr lang="en-US" altLang="en-US"/>
              <a:t>Item_name – By using this we can access each item in defined list.</a:t>
            </a:r>
            <a:endParaRPr lang="en-US" altLang="en-US"/>
          </a:p>
          <a:p>
            <a:r>
              <a:rPr lang="en-US" altLang="en-US"/>
              <a:t>list_name – It’s name of the list which we need to access the items.</a:t>
            </a:r>
            <a:endParaRPr lang="en-US" altLang="en-US"/>
          </a:p>
          <a:p>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Iterating on Collection</a:t>
            </a:r>
            <a:endParaRPr lang="en-US"/>
          </a:p>
        </p:txBody>
      </p:sp>
      <p:sp>
        <p:nvSpPr>
          <p:cNvPr id="3" name="Content Placeholder 2"/>
          <p:cNvSpPr>
            <a:spLocks noGrp="1"/>
          </p:cNvSpPr>
          <p:nvPr>
            <p:ph idx="1"/>
          </p:nvPr>
        </p:nvSpPr>
        <p:spPr/>
        <p:txBody>
          <a:bodyPr/>
          <a:p>
            <a:pPr marL="0" indent="0">
              <a:buNone/>
            </a:pPr>
            <a:r>
              <a:rPr lang="en-US" altLang="en-US"/>
              <a:t>var lstNames: [String] = ["Bharat","Khawar"]</a:t>
            </a:r>
            <a:endParaRPr lang="en-US" altLang="en-US"/>
          </a:p>
          <a:p>
            <a:pPr marL="0" indent="0">
              <a:buNone/>
            </a:pPr>
            <a:endParaRPr lang="en-US" altLang="en-US"/>
          </a:p>
          <a:p>
            <a:pPr marL="0" indent="0">
              <a:buNone/>
            </a:pPr>
            <a:r>
              <a:rPr lang="en-US" altLang="en-US"/>
              <a:t>for index in lstNames {</a:t>
            </a:r>
            <a:endParaRPr lang="en-US" altLang="en-US"/>
          </a:p>
          <a:p>
            <a:pPr marL="0" indent="0">
              <a:buNone/>
            </a:pPr>
            <a:r>
              <a:rPr lang="en-US" altLang="en-US"/>
              <a:t>print( "Name of Developer is \(index)")</a:t>
            </a:r>
            <a:endParaRPr lang="en-US" altLang="en-US"/>
          </a:p>
          <a:p>
            <a:pPr marL="0" indent="0">
              <a:buNone/>
            </a:pPr>
            <a:r>
              <a:rPr lang="en-US" altLang="en-US"/>
              <a:t>}</a:t>
            </a: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While Loop</a:t>
            </a:r>
            <a:endParaRPr lang="en-US"/>
          </a:p>
        </p:txBody>
      </p:sp>
      <p:sp>
        <p:nvSpPr>
          <p:cNvPr id="3" name="Content Placeholder 2"/>
          <p:cNvSpPr>
            <a:spLocks noGrp="1"/>
          </p:cNvSpPr>
          <p:nvPr>
            <p:ph idx="1"/>
          </p:nvPr>
        </p:nvSpPr>
        <p:spPr/>
        <p:txBody>
          <a:bodyPr/>
          <a:p>
            <a:r>
              <a:rPr lang="en-US"/>
              <a:t>Syntax : </a:t>
            </a:r>
            <a:endParaRPr lang="en-US"/>
          </a:p>
          <a:p>
            <a:pPr lvl="1"/>
            <a:r>
              <a:rPr lang="en-US"/>
              <a:t>while(condition) {</a:t>
            </a:r>
            <a:endParaRPr lang="en-US"/>
          </a:p>
          <a:p>
            <a:pPr lvl="2"/>
            <a:r>
              <a:rPr lang="en-US"/>
              <a:t>//Statements</a:t>
            </a:r>
            <a:endParaRPr lang="en-US"/>
          </a:p>
          <a:p>
            <a:pPr lvl="1"/>
            <a:r>
              <a:rPr lang="en-US"/>
              <a:t>}</a:t>
            </a:r>
            <a:endParaRPr lang="en-US"/>
          </a:p>
          <a:p>
            <a:pPr lvl="1"/>
            <a:endParaRPr lang="en-US"/>
          </a:p>
        </p:txBody>
      </p:sp>
      <p:pic>
        <p:nvPicPr>
          <p:cNvPr id="4" name="Picture 3"/>
          <p:cNvPicPr>
            <a:picLocks noChangeAspect="1"/>
          </p:cNvPicPr>
          <p:nvPr/>
        </p:nvPicPr>
        <p:blipFill>
          <a:blip r:embed="rId1"/>
          <a:stretch>
            <a:fillRect/>
          </a:stretch>
        </p:blipFill>
        <p:spPr>
          <a:xfrm>
            <a:off x="838200" y="3666490"/>
            <a:ext cx="2895600" cy="1800225"/>
          </a:xfrm>
          <a:prstGeom prst="rect">
            <a:avLst/>
          </a:prstGeom>
        </p:spPr>
      </p:pic>
      <p:pic>
        <p:nvPicPr>
          <p:cNvPr id="5" name="Picture 4"/>
          <p:cNvPicPr>
            <a:picLocks noChangeAspect="1"/>
          </p:cNvPicPr>
          <p:nvPr/>
        </p:nvPicPr>
        <p:blipFill>
          <a:blip r:embed="rId2"/>
          <a:stretch>
            <a:fillRect/>
          </a:stretch>
        </p:blipFill>
        <p:spPr>
          <a:xfrm>
            <a:off x="4651375" y="3009265"/>
            <a:ext cx="4257675" cy="24574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repeat While Loop</a:t>
            </a:r>
            <a:endParaRPr lang="en-US"/>
          </a:p>
        </p:txBody>
      </p:sp>
      <p:sp>
        <p:nvSpPr>
          <p:cNvPr id="3" name="Content Placeholder 2"/>
          <p:cNvSpPr>
            <a:spLocks noGrp="1"/>
          </p:cNvSpPr>
          <p:nvPr>
            <p:ph idx="1"/>
          </p:nvPr>
        </p:nvSpPr>
        <p:spPr/>
        <p:txBody>
          <a:bodyPr/>
          <a:p>
            <a:r>
              <a:rPr lang="en-US"/>
              <a:t>Syntax :</a:t>
            </a:r>
            <a:endParaRPr lang="en-US"/>
          </a:p>
          <a:p>
            <a:pPr lvl="1"/>
            <a:r>
              <a:rPr lang="en-US"/>
              <a:t>repeat{</a:t>
            </a:r>
            <a:endParaRPr lang="en-US"/>
          </a:p>
          <a:p>
            <a:pPr lvl="2"/>
            <a:r>
              <a:rPr lang="en-US"/>
              <a:t>//Statement</a:t>
            </a:r>
            <a:endParaRPr lang="en-US"/>
          </a:p>
          <a:p>
            <a:pPr lvl="1"/>
            <a:r>
              <a:rPr lang="en-US"/>
              <a:t>}while &lt;Condition&gt;</a:t>
            </a:r>
            <a:endParaRPr lang="en-US"/>
          </a:p>
          <a:p>
            <a:pPr lvl="0"/>
            <a:endParaRPr lang="en-US"/>
          </a:p>
          <a:p>
            <a:pPr lvl="0"/>
            <a:endParaRPr lang="en-US"/>
          </a:p>
        </p:txBody>
      </p:sp>
      <p:pic>
        <p:nvPicPr>
          <p:cNvPr id="4" name="Picture 3"/>
          <p:cNvPicPr>
            <a:picLocks noChangeAspect="1"/>
          </p:cNvPicPr>
          <p:nvPr/>
        </p:nvPicPr>
        <p:blipFill>
          <a:blip r:embed="rId1"/>
          <a:stretch>
            <a:fillRect/>
          </a:stretch>
        </p:blipFill>
        <p:spPr>
          <a:xfrm>
            <a:off x="1106170" y="3702685"/>
            <a:ext cx="2752725" cy="2381250"/>
          </a:xfrm>
          <a:prstGeom prst="rect">
            <a:avLst/>
          </a:prstGeom>
        </p:spPr>
      </p:pic>
      <p:pic>
        <p:nvPicPr>
          <p:cNvPr id="5" name="Picture 4"/>
          <p:cNvPicPr>
            <a:picLocks noChangeAspect="1"/>
          </p:cNvPicPr>
          <p:nvPr/>
        </p:nvPicPr>
        <p:blipFill>
          <a:blip r:embed="rId2"/>
          <a:stretch>
            <a:fillRect/>
          </a:stretch>
        </p:blipFill>
        <p:spPr>
          <a:xfrm>
            <a:off x="4295140" y="3702685"/>
            <a:ext cx="4295775" cy="184785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Collections in IOS</a:t>
            </a:r>
            <a:endParaRPr lang="en-US"/>
          </a:p>
        </p:txBody>
      </p:sp>
      <p:sp>
        <p:nvSpPr>
          <p:cNvPr id="3" name="Content Placeholder 2"/>
          <p:cNvSpPr>
            <a:spLocks noGrp="1"/>
          </p:cNvSpPr>
          <p:nvPr>
            <p:ph idx="1"/>
          </p:nvPr>
        </p:nvSpPr>
        <p:spPr/>
        <p:txBody>
          <a:bodyPr/>
          <a:p>
            <a:r>
              <a:rPr lang="en-US"/>
              <a:t>Collection refers to group of one or different data type to manage large bundle of data.</a:t>
            </a:r>
            <a:endParaRPr lang="en-US"/>
          </a:p>
          <a:p>
            <a:r>
              <a:rPr lang="en-US"/>
              <a:t>we will cover three collection which is widly used in theee Swift Programming.</a:t>
            </a:r>
            <a:endParaRPr lang="en-US"/>
          </a:p>
          <a:p>
            <a:r>
              <a:rPr lang="en-US"/>
              <a:t>1. Swift Array</a:t>
            </a:r>
            <a:endParaRPr lang="en-US"/>
          </a:p>
          <a:p>
            <a:r>
              <a:rPr lang="en-US"/>
              <a:t>2. Swift Set</a:t>
            </a:r>
            <a:endParaRPr lang="en-US"/>
          </a:p>
          <a:p>
            <a:r>
              <a:rPr lang="en-US"/>
              <a:t>3. Swift Dictionary</a:t>
            </a:r>
            <a:endParaRPr lang="en-US"/>
          </a:p>
          <a:p>
            <a:pPr marL="0" indent="0">
              <a:buNone/>
            </a:pP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1. Swift Array</a:t>
            </a:r>
            <a:endParaRPr lang="en-US"/>
          </a:p>
        </p:txBody>
      </p:sp>
      <p:sp>
        <p:nvSpPr>
          <p:cNvPr id="3" name="Content Placeholder 2"/>
          <p:cNvSpPr>
            <a:spLocks noGrp="1"/>
          </p:cNvSpPr>
          <p:nvPr>
            <p:ph idx="1"/>
          </p:nvPr>
        </p:nvSpPr>
        <p:spPr/>
        <p:txBody>
          <a:bodyPr>
            <a:normAutofit fontScale="80000"/>
          </a:bodyPr>
          <a:p>
            <a:r>
              <a:rPr lang="en-US" altLang="en-US"/>
              <a:t>In swift, arrays are used to store same data type of multiple values in ordered manner.In array we can store same value in multiple times at different positions based on our requirements.</a:t>
            </a:r>
            <a:endParaRPr lang="en-US" altLang="en-US"/>
          </a:p>
          <a:p>
            <a:r>
              <a:rPr lang="en-US" altLang="en-US"/>
              <a:t>In swift arrays we can store any kind of elements like either strings or integers or other element types based on our requirements.</a:t>
            </a:r>
            <a:endParaRPr lang="en-US" altLang="en-US"/>
          </a:p>
          <a:p>
            <a:r>
              <a:rPr lang="en-US" altLang="en-US"/>
              <a:t>We can use arrays in swift programming language whenever we want to hold multiple values of single data type in one variable.</a:t>
            </a:r>
            <a:endParaRPr lang="en-US" altLang="en-US"/>
          </a:p>
          <a:p>
            <a:r>
              <a:rPr lang="en-US" altLang="en-US"/>
              <a:t>By using index we can access arrays elements and perform update or delete operations on array elements based on our requirements in swift programming language.</a:t>
            </a:r>
            <a:endParaRPr lang="en-US" altLang="en-US"/>
          </a:p>
          <a:p>
            <a:r>
              <a:rPr lang="en-US" altLang="en-US"/>
              <a:t>In swift we can create arrays by surround a list of comma separated values with square brackets.</a:t>
            </a:r>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Declaration of an Array</a:t>
            </a:r>
            <a:endParaRPr lang="en-US"/>
          </a:p>
        </p:txBody>
      </p:sp>
      <p:sp>
        <p:nvSpPr>
          <p:cNvPr id="3" name="Content Placeholder 2"/>
          <p:cNvSpPr>
            <a:spLocks noGrp="1"/>
          </p:cNvSpPr>
          <p:nvPr>
            <p:ph idx="1"/>
          </p:nvPr>
        </p:nvSpPr>
        <p:spPr/>
        <p:txBody>
          <a:bodyPr/>
          <a:p>
            <a:r>
              <a:rPr lang="en-US"/>
              <a:t>var numbers = [1,2,3,4]</a:t>
            </a:r>
            <a:endParaRPr lang="en-US"/>
          </a:p>
          <a:p>
            <a:r>
              <a:rPr lang="en-US"/>
              <a:t>or</a:t>
            </a:r>
            <a:endParaRPr lang="en-US"/>
          </a:p>
          <a:p>
            <a:r>
              <a:rPr lang="en-US"/>
              <a:t>var nums : Array&lt;Int&gt; = [1,2,3] // For Specific DataType </a:t>
            </a:r>
            <a:endParaRPr lang="en-US"/>
          </a:p>
          <a:p>
            <a:endParaRPr lang="en-US"/>
          </a:p>
          <a:p>
            <a:r>
              <a:rPr lang="en-US"/>
              <a:t>//Declaration without Assigning the values.</a:t>
            </a:r>
            <a:endParaRPr lang="en-US"/>
          </a:p>
          <a:p>
            <a:r>
              <a:rPr lang="en-US"/>
              <a:t>var intervals = Array&lt;Int&gt;()</a:t>
            </a:r>
            <a:endParaRPr lang="en-US"/>
          </a:p>
          <a:p>
            <a:r>
              <a:rPr lang="en-US"/>
              <a:t>var intervals = [Int]()</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Operation on an Array</a:t>
            </a:r>
            <a:endParaRPr lang="en-US"/>
          </a:p>
        </p:txBody>
      </p:sp>
      <p:sp>
        <p:nvSpPr>
          <p:cNvPr id="3" name="Content Placeholder 2"/>
          <p:cNvSpPr>
            <a:spLocks noGrp="1"/>
          </p:cNvSpPr>
          <p:nvPr>
            <p:ph idx="1"/>
          </p:nvPr>
        </p:nvSpPr>
        <p:spPr/>
        <p:txBody>
          <a:bodyPr>
            <a:normAutofit lnSpcReduction="10000"/>
          </a:bodyPr>
          <a:p>
            <a:r>
              <a:rPr lang="en-US"/>
              <a:t>Access : the by default index of an array is starting from 0.basically access an array is as simple as you were doing in C and other programming!</a:t>
            </a:r>
            <a:endParaRPr lang="en-US"/>
          </a:p>
          <a:p>
            <a:r>
              <a:rPr lang="en-US"/>
              <a:t>Check Array Empty or not: </a:t>
            </a:r>
            <a:r>
              <a:rPr lang="en-US" b="1"/>
              <a:t>isEmpty </a:t>
            </a:r>
            <a:r>
              <a:rPr lang="en-US"/>
              <a:t>property</a:t>
            </a:r>
            <a:endParaRPr lang="en-US"/>
          </a:p>
          <a:p>
            <a:r>
              <a:rPr lang="en-US"/>
              <a:t>Get Array Element Count : </a:t>
            </a:r>
            <a:r>
              <a:rPr lang="en-US" b="1"/>
              <a:t>count </a:t>
            </a:r>
            <a:r>
              <a:rPr lang="en-US"/>
              <a:t>property</a:t>
            </a:r>
            <a:endParaRPr lang="en-US"/>
          </a:p>
          <a:p>
            <a:r>
              <a:rPr lang="en-US"/>
              <a:t>Adding an Element in an Array : </a:t>
            </a:r>
            <a:r>
              <a:rPr lang="en-US" b="1"/>
              <a:t>append()</a:t>
            </a:r>
            <a:r>
              <a:rPr lang="en-US"/>
              <a:t> or </a:t>
            </a:r>
            <a:r>
              <a:rPr lang="en-US" b="1"/>
              <a:t>+= </a:t>
            </a:r>
            <a:r>
              <a:rPr lang="en-US"/>
              <a:t>or </a:t>
            </a:r>
            <a:r>
              <a:rPr lang="en-US" b="1"/>
              <a:t>index()</a:t>
            </a:r>
            <a:endParaRPr lang="en-US" b="1"/>
          </a:p>
          <a:p>
            <a:r>
              <a:rPr lang="en-US"/>
              <a:t>Remove Array Element : </a:t>
            </a:r>
            <a:r>
              <a:rPr lang="en-US" b="1"/>
              <a:t>removeLast()</a:t>
            </a:r>
            <a:r>
              <a:rPr lang="en-US"/>
              <a:t> or </a:t>
            </a:r>
            <a:r>
              <a:rPr lang="en-US" b="1"/>
              <a:t>removeAtIndex()</a:t>
            </a:r>
            <a:endParaRPr lang="en-US" b="1"/>
          </a:p>
          <a:p>
            <a:r>
              <a:rPr lang="en-US"/>
              <a:t>Update an Element in Array : by assigning new value to specific position.</a:t>
            </a:r>
            <a:endParaRPr lang="en-US"/>
          </a:p>
          <a:p>
            <a:r>
              <a:rPr lang="en-US"/>
              <a:t>Iteration : using any loop</a:t>
            </a:r>
            <a:endParaRPr lang="en-US" b="1"/>
          </a:p>
          <a:p>
            <a:endParaRPr lang="en-US" b="1"/>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Example : Operation of an Array</a:t>
            </a:r>
            <a:endParaRPr lang="en-US"/>
          </a:p>
        </p:txBody>
      </p:sp>
      <p:pic>
        <p:nvPicPr>
          <p:cNvPr id="4" name="Content Placeholder 3"/>
          <p:cNvPicPr>
            <a:picLocks noChangeAspect="1"/>
          </p:cNvPicPr>
          <p:nvPr>
            <p:ph idx="1"/>
          </p:nvPr>
        </p:nvPicPr>
        <p:blipFill>
          <a:blip r:embed="rId1"/>
          <a:stretch>
            <a:fillRect/>
          </a:stretch>
        </p:blipFill>
        <p:spPr>
          <a:xfrm>
            <a:off x="2169160" y="1468755"/>
            <a:ext cx="7600950" cy="484378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2. Swift Dictionary</a:t>
            </a:r>
            <a:endParaRPr lang="en-US"/>
          </a:p>
        </p:txBody>
      </p:sp>
      <p:sp>
        <p:nvSpPr>
          <p:cNvPr id="3" name="Content Placeholder 2"/>
          <p:cNvSpPr>
            <a:spLocks noGrp="1"/>
          </p:cNvSpPr>
          <p:nvPr>
            <p:ph idx="1"/>
          </p:nvPr>
        </p:nvSpPr>
        <p:spPr/>
        <p:txBody>
          <a:bodyPr>
            <a:normAutofit lnSpcReduction="10000"/>
          </a:bodyPr>
          <a:p>
            <a:r>
              <a:rPr lang="en-US" altLang="en-US"/>
              <a:t>swift, dictionaries are used to store values with key-value pair association in unordered manner. In dictionaries we can store same type of keys and same type of values with no defined order. The keys in dictionaries must be unique and those will act as identifiers for</a:t>
            </a:r>
            <a:br>
              <a:rPr lang="en-US" altLang="en-US"/>
            </a:br>
            <a:r>
              <a:rPr lang="en-US" altLang="en-US"/>
              <a:t>the values in dictionaries.</a:t>
            </a:r>
            <a:endParaRPr lang="en-US" altLang="en-US"/>
          </a:p>
          <a:p>
            <a:r>
              <a:rPr lang="en-US" altLang="en-US"/>
              <a:t>We can use dictionaries in swift programming language whenever we want to get values based on key value.</a:t>
            </a:r>
            <a:endParaRPr lang="en-US" altLang="en-US"/>
          </a:p>
          <a:p>
            <a:r>
              <a:rPr lang="en-US" altLang="en-US"/>
              <a:t>Syntax :</a:t>
            </a:r>
            <a:endParaRPr lang="en-US" altLang="en-US"/>
          </a:p>
          <a:p>
            <a:pPr lvl="1"/>
            <a:r>
              <a:rPr lang="en-US" altLang="en-US"/>
              <a:t>Dictionary&lt;Key, Value&gt;()</a:t>
            </a:r>
            <a:endParaRPr lang="en-US" altLang="en-US"/>
          </a:p>
          <a:p>
            <a:pPr lvl="1"/>
            <a:r>
              <a:rPr lang="en-US" altLang="en-US"/>
              <a:t>Or</a:t>
            </a:r>
            <a:endParaRPr lang="en-US" altLang="en-US"/>
          </a:p>
          <a:p>
            <a:pPr lvl="1"/>
            <a:r>
              <a:rPr lang="en-US" altLang="en-US"/>
              <a:t>[Key: Value]()</a:t>
            </a:r>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Creating the Dictionary</a:t>
            </a:r>
            <a:endParaRPr lang="en-US"/>
          </a:p>
        </p:txBody>
      </p:sp>
      <p:sp>
        <p:nvSpPr>
          <p:cNvPr id="3" name="Content Placeholder 2"/>
          <p:cNvSpPr>
            <a:spLocks noGrp="1"/>
          </p:cNvSpPr>
          <p:nvPr>
            <p:ph idx="1"/>
          </p:nvPr>
        </p:nvSpPr>
        <p:spPr/>
        <p:txBody>
          <a:bodyPr/>
          <a:p>
            <a:r>
              <a:rPr lang="en-US" altLang="en-US"/>
              <a:t>// using Dictionary</a:t>
            </a:r>
            <a:endParaRPr lang="en-US" altLang="en-US"/>
          </a:p>
          <a:p>
            <a:pPr lvl="1"/>
            <a:r>
              <a:rPr lang="en-US" altLang="en-US"/>
              <a:t>let nums = Dictionary&lt;Int, String&gt;()</a:t>
            </a:r>
            <a:endParaRPr lang="en-US" altLang="en-US"/>
          </a:p>
          <a:p>
            <a:pPr lvl="1"/>
            <a:r>
              <a:rPr lang="en-US" altLang="en-US"/>
              <a:t>print(nums.count)</a:t>
            </a:r>
            <a:endParaRPr lang="en-US" altLang="en-US"/>
          </a:p>
          <a:p>
            <a:pPr lvl="1"/>
            <a:r>
              <a:rPr lang="en-US" altLang="en-US"/>
              <a:t>// It prints 0</a:t>
            </a:r>
            <a:endParaRPr lang="en-US" altLang="en-US"/>
          </a:p>
          <a:p>
            <a:r>
              <a:rPr lang="en-US" altLang="en-US"/>
              <a:t>// without dictionary</a:t>
            </a:r>
            <a:endParaRPr lang="en-US" altLang="en-US"/>
          </a:p>
          <a:p>
            <a:pPr lvl="1"/>
            <a:r>
              <a:rPr lang="en-US" altLang="en-US"/>
              <a:t>let nums = [Int: String]()</a:t>
            </a:r>
            <a:endParaRPr lang="en-US" altLang="en-US"/>
          </a:p>
          <a:p>
            <a:pPr lvl="1"/>
            <a:r>
              <a:rPr lang="en-US" altLang="en-US"/>
              <a:t>print(nums.count)</a:t>
            </a:r>
            <a:endParaRPr lang="en-US" altLang="en-US"/>
          </a:p>
          <a:p>
            <a:pPr lvl="1"/>
            <a:r>
              <a:rPr lang="en-US" altLang="en-US"/>
              <a:t>// It prints 0</a:t>
            </a:r>
            <a:endParaRPr lang="en-US" altLang="en-US"/>
          </a:p>
        </p:txBody>
      </p:sp>
      <p:pic>
        <p:nvPicPr>
          <p:cNvPr id="4" name="Picture 3"/>
          <p:cNvPicPr>
            <a:picLocks noChangeAspect="1"/>
          </p:cNvPicPr>
          <p:nvPr/>
        </p:nvPicPr>
        <p:blipFill>
          <a:blip r:embed="rId1"/>
          <a:stretch>
            <a:fillRect/>
          </a:stretch>
        </p:blipFill>
        <p:spPr>
          <a:xfrm>
            <a:off x="4407535" y="4631690"/>
            <a:ext cx="7524750" cy="193357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Operation on Dictionary</a:t>
            </a:r>
            <a:endParaRPr lang="en-US"/>
          </a:p>
        </p:txBody>
      </p:sp>
      <p:pic>
        <p:nvPicPr>
          <p:cNvPr id="4" name="Content Placeholder 3"/>
          <p:cNvPicPr>
            <a:picLocks noChangeAspect="1"/>
          </p:cNvPicPr>
          <p:nvPr>
            <p:ph idx="1"/>
          </p:nvPr>
        </p:nvPicPr>
        <p:blipFill>
          <a:blip r:embed="rId1"/>
          <a:stretch>
            <a:fillRect/>
          </a:stretch>
        </p:blipFill>
        <p:spPr>
          <a:xfrm>
            <a:off x="2408555" y="1294765"/>
            <a:ext cx="7646670" cy="531558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3. Swift Sets</a:t>
            </a:r>
            <a:endParaRPr lang="en-US"/>
          </a:p>
        </p:txBody>
      </p:sp>
      <p:sp>
        <p:nvSpPr>
          <p:cNvPr id="3" name="Content Placeholder 2"/>
          <p:cNvSpPr>
            <a:spLocks noGrp="1"/>
          </p:cNvSpPr>
          <p:nvPr>
            <p:ph idx="1"/>
          </p:nvPr>
        </p:nvSpPr>
        <p:spPr/>
        <p:txBody>
          <a:bodyPr/>
          <a:p>
            <a:r>
              <a:rPr lang="en-US" altLang="en-US"/>
              <a:t>sets are used to store same type of distinct values in unordered manner. We can use sets instead of arrays in case if we want to store only distinct values and we are not concerned about the order of items.</a:t>
            </a:r>
            <a:endParaRPr lang="en-US" altLang="en-US"/>
          </a:p>
          <a:p>
            <a:r>
              <a:rPr lang="en-US" altLang="en-US"/>
              <a:t>Syntax:</a:t>
            </a:r>
            <a:endParaRPr lang="en-US" altLang="en-US"/>
          </a:p>
          <a:p>
            <a:pPr lvl="1"/>
            <a:r>
              <a:rPr lang="en-US" altLang="en-US"/>
              <a:t>Set&lt;ElementType&gt;</a:t>
            </a:r>
            <a:endParaRPr lang="en-US" altLang="en-US"/>
          </a:p>
          <a:p>
            <a:pPr lvl="0"/>
            <a:r>
              <a:rPr lang="en-US" altLang="en-US"/>
              <a:t>Example:</a:t>
            </a:r>
            <a:endParaRPr lang="en-US" altLang="en-US"/>
          </a:p>
          <a:p>
            <a:pPr lvl="1"/>
            <a:r>
              <a:rPr lang="en-US" altLang="en-US"/>
              <a:t>var numbers : Set&lt;Int&gt; = [1,2,3]</a:t>
            </a:r>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Creating a Set in Swift</a:t>
            </a:r>
            <a:endParaRPr lang="en-US"/>
          </a:p>
        </p:txBody>
      </p:sp>
      <p:sp>
        <p:nvSpPr>
          <p:cNvPr id="3" name="Content Placeholder 2"/>
          <p:cNvSpPr>
            <a:spLocks noGrp="1"/>
          </p:cNvSpPr>
          <p:nvPr>
            <p:ph idx="1"/>
          </p:nvPr>
        </p:nvSpPr>
        <p:spPr/>
        <p:txBody>
          <a:bodyPr/>
          <a:p>
            <a:r>
              <a:rPr lang="en-US"/>
              <a:t>var numbers : Set  = [10,20,30,40,50]</a:t>
            </a:r>
            <a:endParaRPr lang="en-US"/>
          </a:p>
          <a:p>
            <a:r>
              <a:rPr lang="en-US"/>
              <a:t>or</a:t>
            </a:r>
            <a:endParaRPr lang="en-US"/>
          </a:p>
          <a:p>
            <a:r>
              <a:rPr lang="en-US"/>
              <a:t>var names : Set = [“ABC”,”BCD”,”CDE”]</a:t>
            </a:r>
            <a:endParaRPr lang="en-US"/>
          </a:p>
          <a:p>
            <a:endParaRPr lang="en-US"/>
          </a:p>
          <a:p>
            <a:r>
              <a:rPr lang="en-US"/>
              <a:t>//We can also specify the DataType.</a:t>
            </a:r>
            <a:endParaRPr lang="en-US"/>
          </a:p>
          <a:p>
            <a:r>
              <a:rPr lang="en-US"/>
              <a:t>var numvers : Set&lt;Int&gt; = [10,20,30,40,50] </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Operation on Swift</a:t>
            </a:r>
            <a:endParaRPr lang="en-US"/>
          </a:p>
        </p:txBody>
      </p:sp>
      <p:pic>
        <p:nvPicPr>
          <p:cNvPr id="4" name="Content Placeholder 3"/>
          <p:cNvPicPr>
            <a:picLocks noChangeAspect="1"/>
          </p:cNvPicPr>
          <p:nvPr>
            <p:ph idx="1"/>
          </p:nvPr>
        </p:nvPicPr>
        <p:blipFill>
          <a:blip r:embed="rId1"/>
          <a:stretch>
            <a:fillRect/>
          </a:stretch>
        </p:blipFill>
        <p:spPr>
          <a:xfrm>
            <a:off x="2828925" y="1507490"/>
            <a:ext cx="6849110" cy="505587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Functions in Swift</a:t>
            </a:r>
            <a:endParaRPr lang="en-US"/>
          </a:p>
        </p:txBody>
      </p:sp>
      <p:sp>
        <p:nvSpPr>
          <p:cNvPr id="5" name="Content Placeholder 4"/>
          <p:cNvSpPr/>
          <p:nvPr>
            <p:ph idx="1"/>
          </p:nvPr>
        </p:nvSpPr>
        <p:spPr/>
        <p:txBody>
          <a:bodyPr>
            <a:normAutofit lnSpcReduction="10000"/>
          </a:bodyPr>
          <a:p>
            <a:r>
              <a:rPr lang="en-US" altLang="en-US"/>
              <a:t>functions are the block of statements to perform specified tasks and return values based on our defined conditions.</a:t>
            </a:r>
            <a:endParaRPr lang="en-US" altLang="en-US"/>
          </a:p>
          <a:p>
            <a:r>
              <a:rPr lang="en-US" altLang="en-US"/>
              <a:t>In swift we can send data to functions by using input parameters and functions is having return types to return data as result.</a:t>
            </a:r>
            <a:endParaRPr lang="en-US" altLang="en-US"/>
          </a:p>
          <a:p>
            <a:r>
              <a:rPr lang="en-US" altLang="en-US"/>
              <a:t>Provides Reusability.</a:t>
            </a:r>
            <a:endParaRPr lang="en-US" altLang="en-US"/>
          </a:p>
          <a:p>
            <a:r>
              <a:rPr lang="en-US" altLang="en-US"/>
              <a:t>* Syntax:</a:t>
            </a:r>
            <a:endParaRPr lang="en-US" altLang="en-US"/>
          </a:p>
          <a:p>
            <a:pPr lvl="1"/>
            <a:r>
              <a:rPr lang="en-US" altLang="en-US"/>
              <a:t>func function_name(parameters) -&gt; ReturnType {</a:t>
            </a:r>
            <a:endParaRPr lang="en-US" altLang="en-US"/>
          </a:p>
          <a:p>
            <a:pPr lvl="2"/>
            <a:r>
              <a:rPr lang="en-US" altLang="en-US"/>
              <a:t>// Statements</a:t>
            </a:r>
            <a:endParaRPr lang="en-US" altLang="en-US"/>
          </a:p>
          <a:p>
            <a:pPr lvl="2"/>
            <a:endParaRPr lang="en-US" altLang="en-US"/>
          </a:p>
          <a:p>
            <a:pPr lvl="2"/>
            <a:r>
              <a:rPr lang="en-US" altLang="en-US"/>
              <a:t>return parameters</a:t>
            </a:r>
            <a:endParaRPr lang="en-US" altLang="en-US"/>
          </a:p>
          <a:p>
            <a:pPr lvl="1"/>
            <a:r>
              <a:rPr lang="en-US" altLang="en-US"/>
              <a:t>}</a:t>
            </a:r>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Funtion without Parameter</a:t>
            </a:r>
            <a:endParaRPr lang="en-US"/>
          </a:p>
        </p:txBody>
      </p:sp>
      <p:sp>
        <p:nvSpPr>
          <p:cNvPr id="3" name="Content Placeholder 2"/>
          <p:cNvSpPr>
            <a:spLocks noGrp="1"/>
          </p:cNvSpPr>
          <p:nvPr>
            <p:ph idx="1"/>
          </p:nvPr>
        </p:nvSpPr>
        <p:spPr/>
        <p:txBody>
          <a:bodyPr/>
          <a:p>
            <a:r>
              <a:rPr lang="en-US"/>
              <a:t>Example :</a:t>
            </a:r>
            <a:endParaRPr lang="en-US"/>
          </a:p>
          <a:p>
            <a:r>
              <a:rPr lang="en-US"/>
              <a:t>func show(){</a:t>
            </a:r>
            <a:endParaRPr lang="en-US"/>
          </a:p>
          <a:p>
            <a:pPr lvl="1"/>
            <a:r>
              <a:rPr lang="en-US"/>
              <a:t>print(“IOS Programming”)</a:t>
            </a:r>
            <a:endParaRPr lang="en-US"/>
          </a:p>
          <a:p>
            <a:r>
              <a:rPr lang="en-US"/>
              <a:t>}</a:t>
            </a:r>
            <a:endParaRPr lang="en-US"/>
          </a:p>
          <a:p>
            <a:endParaRPr lang="en-US"/>
          </a:p>
          <a:p>
            <a:r>
              <a:rPr lang="en-US"/>
              <a:t>show()</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Swift Funtion with multiple parameters</a:t>
            </a:r>
            <a:endParaRPr lang="en-US"/>
          </a:p>
        </p:txBody>
      </p:sp>
      <p:sp>
        <p:nvSpPr>
          <p:cNvPr id="3" name="Content Placeholder 2"/>
          <p:cNvSpPr>
            <a:spLocks noGrp="1"/>
          </p:cNvSpPr>
          <p:nvPr>
            <p:ph idx="1"/>
          </p:nvPr>
        </p:nvSpPr>
        <p:spPr/>
        <p:txBody>
          <a:bodyPr/>
          <a:p>
            <a:r>
              <a:rPr lang="en-US"/>
              <a:t>func addition(a : Int){</a:t>
            </a:r>
            <a:endParaRPr lang="en-US"/>
          </a:p>
          <a:p>
            <a:pPr lvl="1"/>
            <a:r>
              <a:rPr lang="en-US"/>
              <a:t>print(“\(a) + 50 = ” + (a +50))</a:t>
            </a:r>
            <a:endParaRPr lang="en-US"/>
          </a:p>
          <a:p>
            <a:r>
              <a:rPr lang="en-US"/>
              <a:t>}</a:t>
            </a:r>
            <a:endParaRPr lang="en-US"/>
          </a:p>
          <a:p>
            <a:endParaRPr lang="en-US"/>
          </a:p>
          <a:p>
            <a:r>
              <a:rPr lang="en-US"/>
              <a:t>addition(120)</a:t>
            </a:r>
            <a:endParaRPr lang="en-US"/>
          </a:p>
          <a:p>
            <a:r>
              <a:rPr lang="en-US"/>
              <a:t>O/P -&gt; 120 + 50 = 170</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5994400"/>
          </a:xfrm>
        </p:spPr>
        <p:txBody>
          <a:bodyPr>
            <a:normAutofit/>
          </a:bodyPr>
          <a:p>
            <a:r>
              <a:rPr lang="en-US"/>
              <a:t>Summarry</a:t>
            </a:r>
            <a:endParaRPr lang="en-US"/>
          </a:p>
        </p:txBody>
      </p:sp>
      <p:pic>
        <p:nvPicPr>
          <p:cNvPr id="4" name="Content Placeholder 3"/>
          <p:cNvPicPr>
            <a:picLocks noChangeAspect="1"/>
          </p:cNvPicPr>
          <p:nvPr>
            <p:ph idx="1"/>
          </p:nvPr>
        </p:nvPicPr>
        <p:blipFill>
          <a:blip r:embed="rId1"/>
          <a:stretch>
            <a:fillRect/>
          </a:stretch>
        </p:blipFill>
        <p:spPr>
          <a:xfrm>
            <a:off x="5080000" y="0"/>
            <a:ext cx="7112000" cy="685101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Thank you</a:t>
            </a:r>
            <a:endParaRPr lang="en-US"/>
          </a:p>
        </p:txBody>
      </p:sp>
      <p:sp>
        <p:nvSpPr>
          <p:cNvPr id="5" name="Text Placeholder 4"/>
          <p:cNvSpPr>
            <a:spLocks noGrp="1"/>
          </p:cNvSpPr>
          <p:nvPr>
            <p:ph type="body" idx="1"/>
          </p:nvPr>
        </p:nvSpPr>
        <p:spPr/>
        <p:txBody>
          <a:bodyPr/>
          <a:p>
            <a:r>
              <a:rPr lang="en-US"/>
              <a:t>Vraj Suratwala, Department of ICT, VNSGU</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11092</Words>
  <Application>WPS Presentation</Application>
  <PresentationFormat>Widescreen</PresentationFormat>
  <Paragraphs>383</Paragraphs>
  <Slides>47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47</vt:i4>
      </vt:variant>
    </vt:vector>
  </HeadingPairs>
  <TitlesOfParts>
    <vt:vector size="56" baseType="lpstr">
      <vt:lpstr>Arial</vt:lpstr>
      <vt:lpstr>SimSun</vt:lpstr>
      <vt:lpstr>Wingdings</vt:lpstr>
      <vt:lpstr>Calibri Light</vt:lpstr>
      <vt:lpstr>Calibri</vt:lpstr>
      <vt:lpstr>Microsoft YaHei</vt:lpstr>
      <vt:lpstr>Arial Unicode MS</vt:lpstr>
      <vt:lpstr>Shruti</vt:lpstr>
      <vt:lpstr>Office Theme</vt:lpstr>
      <vt:lpstr>IoS - iphone Operating System</vt:lpstr>
      <vt:lpstr>What is an Ios ?</vt:lpstr>
      <vt:lpstr>Features of Swift</vt:lpstr>
      <vt:lpstr>What is the Meaning of Type-Safety in ios ?</vt:lpstr>
      <vt:lpstr>Playground</vt:lpstr>
      <vt:lpstr>Playground - Visual Components</vt:lpstr>
      <vt:lpstr>Playground</vt:lpstr>
      <vt:lpstr>Comments in Swift</vt:lpstr>
      <vt:lpstr>Swift Variables</vt:lpstr>
      <vt:lpstr>Swift Data-Types</vt:lpstr>
      <vt:lpstr>Swift Constants</vt:lpstr>
      <vt:lpstr>String Concatenation and Interpolation</vt:lpstr>
      <vt:lpstr>Explanation of Both</vt:lpstr>
      <vt:lpstr>Swift Optionals</vt:lpstr>
      <vt:lpstr>Optionals : One Solution to us</vt:lpstr>
      <vt:lpstr>Problem with nil concept</vt:lpstr>
      <vt:lpstr>Force Unwrapping and Autometic Unwrapping</vt:lpstr>
      <vt:lpstr>Solving that...</vt:lpstr>
      <vt:lpstr>Important Notes</vt:lpstr>
      <vt:lpstr>Autometic Unwrapping (Implicit Unwrapped Optional)</vt:lpstr>
      <vt:lpstr>Difference - From ChatGPT</vt:lpstr>
      <vt:lpstr>If-else</vt:lpstr>
      <vt:lpstr>Tuples in Swift</vt:lpstr>
      <vt:lpstr>1. Unnamed Tuples</vt:lpstr>
      <vt:lpstr>1. Unnamed Tuples</vt:lpstr>
      <vt:lpstr>2. Named Tuples</vt:lpstr>
      <vt:lpstr>2. Named Tuples</vt:lpstr>
      <vt:lpstr>Loops in Swift</vt:lpstr>
      <vt:lpstr>Iterating on Collection</vt:lpstr>
      <vt:lpstr>While Loop</vt:lpstr>
      <vt:lpstr>repeat While Loop</vt:lpstr>
      <vt:lpstr>Collections in IOS</vt:lpstr>
      <vt:lpstr>1. Swift Array</vt:lpstr>
      <vt:lpstr>Declaration of an Array</vt:lpstr>
      <vt:lpstr>Operation on an Array</vt:lpstr>
      <vt:lpstr>Example : Operation of an Array</vt:lpstr>
      <vt:lpstr>2. Swift Dictionary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Vraj Suratwala</dc:creator>
  <cp:lastModifiedBy>Vraj Suratwala</cp:lastModifiedBy>
  <cp:revision>62</cp:revision>
  <dcterms:created xsi:type="dcterms:W3CDTF">2025-07-23T00:59:00Z</dcterms:created>
  <dcterms:modified xsi:type="dcterms:W3CDTF">2026-02-11T18:43:19Z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971F157D084C4B5680BFCB1DBFDB3743_11</vt:lpwstr>
  </property>
  <property fmtid="{D5CDD505-2E9C-101B-9397-08002B2CF9AE}" pid="3" name="KSOProductBuildVer">
    <vt:lpwstr>1033-12.2.0.23155</vt:lpwstr>
  </property>
</Properties>
</file>